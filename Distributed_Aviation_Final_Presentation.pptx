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217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85434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Open by framing the project as a distributed data application that integrates Java, MySQL, Python, and reporting. Mention that the screenshots come from the final working system and that the presentation will cover architecture, workflow, findings, and debugging lessons.
[Sources]
- User-provided screenshots and report text from this conversation.
[/Sources]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Explain the sequence from client to server to database to Python and finally back to the client as a report. Emphasize that the architecture kept each layer focused on a single responsibility, which made debugging easier when issues appeared.
[Sources]
- User-provided screenshots and report text from this conversation.
[/Sources]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Walk through the entry point of the system. Mention that both screens were implemented in Java Swing, and that registration had to be debugged early because the client database connection initially returned null before the connector and connection logic were corrected.
[Sources]
- User-provided screenshots and report text from this conversation.
[/Sources]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Describe the happy-path workflow. After login, the user uploads the five CSV files one at a time, the server inserts rows into MySQL, the Analyze button triggers Python, and the completed PDF report is returned to the client.
[Sources]
- User-provided screenshots and report text from this conversation.
[/Sources]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Present the report summary as the project’s business insight. Emphasize that the report quantified both operational disruption and financial impact, which is why the combined Java-MySQL-Python pipeline matters.
[Sources]
- User-provided report text in the conversation, including the executive summary values and findings.
[/Sources]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is the debugging slide. Explain that most of the effort went into integration issues rather than business logic. The key lesson was to test each layer separately: database, Java connection, upload flow, Python analytics, and Git repository state.
[Sources]
- User-provided screenshots and report text from this conversation.
[/Sources]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Close the implementation story by showing the deliverables and the GitHub submission target. Mention that repository synchronization itself was one of the roadblocks, and that the final solution was to update the already connected submission folder before pushing.
[Sources]
- User-provided screenshots and report text from this conversation.
[/Sources]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End by emphasizing that the project is successful not just because the final output works, but because the full pipeline was debugged and stabilized. If time allows, mention one or two future improvements that would make the system more production-ready.
[Sources]
- User-provided screenshots and report text from this conversation.
[/Sources]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spTree>
      <p:nvGrpSpPr>
        <p:cNvPr id="1" name=""/>
        <p:cNvGrpSpPr/>
        <p:nvPr/>
      </p:nvGrpSpPr>
      <p:grpSpPr>
        <a:xfrm>
          <a:off x="0" y="0"/>
          <a:ext cx="0" cy="0"/>
          <a:chOff x="0" y="0"/>
          <a:chExt cx="0" cy="0"/>
        </a:xfrm>
      </p:grpSpPr>
      <p:sp>
        <p:nvSpPr>
          <p:cNvPr id="2" name="Shape 0"/>
          <p:cNvSpPr/>
          <p:nvPr/>
        </p:nvSpPr>
        <p:spPr>
          <a:xfrm>
            <a:off x="0" y="0"/>
            <a:ext cx="12191695" cy="438912"/>
          </a:xfrm>
          <a:prstGeom prst="rect">
            <a:avLst/>
          </a:prstGeom>
          <a:solidFill>
            <a:srgbClr val="0F172A"/>
          </a:solidFill>
          <a:ln w="12700">
            <a:solidFill>
              <a:srgbClr val="0F172A"/>
            </a:solidFill>
            <a:prstDash val="solid"/>
          </a:ln>
        </p:spPr>
        <p:txBody>
          <a:bodyPr/>
          <a:lstStyle/>
          <a:p>
            <a:endParaRPr lang="en-US"/>
          </a:p>
        </p:txBody>
      </p:sp>
      <p:sp>
        <p:nvSpPr>
          <p:cNvPr id="3" name="Text 1"/>
          <p:cNvSpPr/>
          <p:nvPr/>
        </p:nvSpPr>
        <p:spPr>
          <a:xfrm>
            <a:off x="411480" y="91440"/>
            <a:ext cx="2743200" cy="182880"/>
          </a:xfrm>
          <a:prstGeom prst="rect">
            <a:avLst/>
          </a:prstGeom>
          <a:noFill/>
          <a:ln/>
        </p:spPr>
        <p:txBody>
          <a:bodyPr wrap="square" rtlCol="0" anchor="ctr"/>
          <a:lstStyle/>
          <a:p>
            <a:pPr marL="0" indent="0">
              <a:buNone/>
            </a:pPr>
            <a:r>
              <a:rPr lang="en-US" sz="1100" dirty="0">
                <a:solidFill>
                  <a:srgbClr val="E2E8F0"/>
                </a:solidFill>
              </a:rPr>
              <a:t>MSDS535 • Final Project</a:t>
            </a:r>
            <a:endParaRPr lang="en-US" sz="1100" dirty="0"/>
          </a:p>
        </p:txBody>
      </p:sp>
      <p:sp>
        <p:nvSpPr>
          <p:cNvPr id="4" name="Shape 2"/>
          <p:cNvSpPr/>
          <p:nvPr/>
        </p:nvSpPr>
        <p:spPr>
          <a:xfrm>
            <a:off x="0" y="6547104"/>
            <a:ext cx="12191695" cy="310896"/>
          </a:xfrm>
          <a:prstGeom prst="rect">
            <a:avLst/>
          </a:prstGeom>
          <a:solidFill>
            <a:srgbClr val="0F172A"/>
          </a:solidFill>
          <a:ln w="12700">
            <a:solidFill>
              <a:srgbClr val="0F172A"/>
            </a:solidFill>
            <a:prstDash val="solid"/>
          </a:ln>
        </p:spPr>
        <p:txBody>
          <a:bodyPr/>
          <a:lstStyle/>
          <a:p>
            <a:endParaRPr lang="en-US"/>
          </a:p>
        </p:txBody>
      </p:sp>
      <p:sp>
        <p:nvSpPr>
          <p:cNvPr id="25" name="Slide Number Placeholder 0"/>
          <p:cNvSpPr>
            <a:spLocks noGrp="1"/>
          </p:cNvSpPr>
          <p:nvPr>
            <p:ph type="sldNum" sz="quarter" idx="4294967295"/>
          </p:nvPr>
        </p:nvSpPr>
        <p:spPr>
          <a:xfrm>
            <a:off x="11704320" y="6565392"/>
            <a:ext cx="274320" cy="164592"/>
          </a:xfrm>
          <a:prstGeom prst="rect">
            <a:avLst/>
          </a:prstGeom>
          <a:extLst>
            <a:ext uri="{C572A759-6A51-4108-AA02-DFA0A04FC94B}">
              <ma14:wrappingTextBoxFlag xmlns:ma14="http://schemas.microsoft.com/office/mac/drawingml/2011/main" xmlns="" val="0"/>
            </a:ext>
          </a:extLst>
        </p:spPr>
        <p:txBody>
          <a:bodyPr/>
          <a:lstStyle>
            <a:lvl1pPr>
              <a:defRPr sz="1000">
                <a:solidFill>
                  <a:srgbClr val="E2E8F0"/>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04320" y="6565392"/>
            <a:ext cx="274320" cy="164592"/>
          </a:xfrm>
          <a:prstGeom prst="rect">
            <a:avLst/>
          </a:prstGeom>
          <a:extLst>
            <a:ext uri="{C572A759-6A51-4108-AA02-DFA0A04FC94B}">
              <ma14:wrappingTextBoxFlag xmlns:ma14="http://schemas.microsoft.com/office/mac/drawingml/2011/main" xmlns="" val="0"/>
            </a:ext>
          </a:extLst>
        </p:spPr>
        <p:txBody>
          <a:bodyPr/>
          <a:lstStyle>
            <a:lvl1pPr>
              <a:defRPr sz="1000">
                <a:solidFill>
                  <a:srgbClr val="E2E8F0"/>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mnt/data/8ed7a41a-c737-46dd-9ffb-0fb3e32dacc5.png"/>
          <p:cNvPicPr>
            <a:picLocks noChangeAspect="1"/>
          </p:cNvPicPr>
          <p:nvPr/>
        </p:nvPicPr>
        <p:blipFill>
          <a:blip r:embed="rId3"/>
          <a:srcRect t="16243" b="16243"/>
          <a:stretch/>
        </p:blipFill>
        <p:spPr>
          <a:xfrm>
            <a:off x="0" y="438912"/>
            <a:ext cx="12191695" cy="6419088"/>
          </a:xfrm>
          <a:prstGeom prst="rect">
            <a:avLst/>
          </a:prstGeom>
        </p:spPr>
      </p:pic>
      <p:sp>
        <p:nvSpPr>
          <p:cNvPr id="3" name="Shape 0"/>
          <p:cNvSpPr/>
          <p:nvPr/>
        </p:nvSpPr>
        <p:spPr>
          <a:xfrm>
            <a:off x="305" y="438912"/>
            <a:ext cx="12191695" cy="6419088"/>
          </a:xfrm>
          <a:prstGeom prst="rect">
            <a:avLst/>
          </a:prstGeom>
          <a:solidFill>
            <a:srgbClr val="0F172A">
              <a:alpha val="64000"/>
            </a:srgbClr>
          </a:solidFill>
          <a:ln w="12700">
            <a:solidFill>
              <a:srgbClr val="0F172A">
                <a:alpha val="0"/>
              </a:srgbClr>
            </a:solidFill>
            <a:prstDash val="solid"/>
          </a:ln>
        </p:spPr>
        <p:txBody>
          <a:bodyPr/>
          <a:lstStyle/>
          <a:p>
            <a:endParaRPr lang="en-US"/>
          </a:p>
        </p:txBody>
      </p:sp>
      <p:sp>
        <p:nvSpPr>
          <p:cNvPr id="4" name="Shape 1"/>
          <p:cNvSpPr/>
          <p:nvPr/>
        </p:nvSpPr>
        <p:spPr>
          <a:xfrm>
            <a:off x="515104" y="1687342"/>
            <a:ext cx="3632896" cy="529389"/>
          </a:xfrm>
          <a:prstGeom prst="roundRect">
            <a:avLst>
              <a:gd name="adj" fmla="val 19048"/>
            </a:avLst>
          </a:prstGeom>
          <a:solidFill>
            <a:srgbClr val="F59E0B"/>
          </a:solidFill>
          <a:ln w="12700">
            <a:solidFill>
              <a:srgbClr val="F59E0B"/>
            </a:solidFill>
            <a:prstDash val="solid"/>
          </a:ln>
        </p:spPr>
        <p:txBody>
          <a:bodyPr/>
          <a:lstStyle/>
          <a:p>
            <a:endParaRPr lang="en-US"/>
          </a:p>
        </p:txBody>
      </p:sp>
      <p:sp>
        <p:nvSpPr>
          <p:cNvPr id="5" name="Text 2"/>
          <p:cNvSpPr/>
          <p:nvPr/>
        </p:nvSpPr>
        <p:spPr>
          <a:xfrm>
            <a:off x="514799" y="1707773"/>
            <a:ext cx="3329700" cy="473242"/>
          </a:xfrm>
          <a:prstGeom prst="rect">
            <a:avLst/>
          </a:prstGeom>
          <a:noFill/>
          <a:ln/>
        </p:spPr>
        <p:txBody>
          <a:bodyPr wrap="square" rtlCol="0" anchor="ctr"/>
          <a:lstStyle/>
          <a:p>
            <a:pPr marL="0" indent="0" algn="ctr">
              <a:buNone/>
            </a:pPr>
            <a:r>
              <a:rPr lang="en-US" sz="1600" b="1" dirty="0">
                <a:solidFill>
                  <a:srgbClr val="FFFFFF"/>
                </a:solidFill>
              </a:rPr>
              <a:t>FINAL PROJECT PRESENTATION</a:t>
            </a:r>
            <a:endParaRPr lang="en-US" sz="1600" dirty="0"/>
          </a:p>
        </p:txBody>
      </p:sp>
      <p:sp>
        <p:nvSpPr>
          <p:cNvPr id="6" name="Text 3"/>
          <p:cNvSpPr/>
          <p:nvPr/>
        </p:nvSpPr>
        <p:spPr>
          <a:xfrm>
            <a:off x="293299" y="2517188"/>
            <a:ext cx="6655836" cy="1334334"/>
          </a:xfrm>
          <a:prstGeom prst="rect">
            <a:avLst/>
          </a:prstGeom>
          <a:noFill/>
          <a:ln/>
        </p:spPr>
        <p:txBody>
          <a:bodyPr wrap="square" rtlCol="0" anchor="ctr"/>
          <a:lstStyle/>
          <a:p>
            <a:pPr marL="0" indent="0">
              <a:buNone/>
            </a:pPr>
            <a:r>
              <a:rPr lang="en-US" sz="2600" b="1" dirty="0">
                <a:solidFill>
                  <a:srgbClr val="FFFFFF"/>
                </a:solidFill>
                <a:latin typeface="Aptos Display" pitchFamily="34" charset="0"/>
                <a:ea typeface="Aptos Display" pitchFamily="34" charset="-122"/>
                <a:cs typeface="Aptos Display" pitchFamily="34" charset="-120"/>
              </a:rPr>
              <a:t>Distributed Aviation</a:t>
            </a:r>
            <a:endParaRPr lang="en-US" sz="2600" dirty="0"/>
          </a:p>
          <a:p>
            <a:pPr marL="0" indent="0">
              <a:buNone/>
            </a:pPr>
            <a:r>
              <a:rPr lang="en-US" sz="2600" b="1" dirty="0">
                <a:solidFill>
                  <a:srgbClr val="FFFFFF"/>
                </a:solidFill>
                <a:latin typeface="Aptos Display" pitchFamily="34" charset="0"/>
                <a:ea typeface="Aptos Display" pitchFamily="34" charset="-122"/>
                <a:cs typeface="Aptos Display" pitchFamily="34" charset="-120"/>
              </a:rPr>
              <a:t>Disruption Analytics System</a:t>
            </a:r>
            <a:endParaRPr lang="en-US" sz="2600" dirty="0"/>
          </a:p>
        </p:txBody>
      </p:sp>
      <p:sp>
        <p:nvSpPr>
          <p:cNvPr id="7" name="Text 4"/>
          <p:cNvSpPr/>
          <p:nvPr/>
        </p:nvSpPr>
        <p:spPr>
          <a:xfrm>
            <a:off x="384128" y="5341887"/>
            <a:ext cx="5919537" cy="731520"/>
          </a:xfrm>
          <a:prstGeom prst="rect">
            <a:avLst/>
          </a:prstGeom>
          <a:noFill/>
          <a:ln/>
        </p:spPr>
        <p:txBody>
          <a:bodyPr wrap="square" rtlCol="0" anchor="ctr"/>
          <a:lstStyle/>
          <a:p>
            <a:pPr marL="0" indent="0">
              <a:buNone/>
            </a:pPr>
            <a:r>
              <a:rPr lang="en-US" sz="1600" dirty="0">
                <a:solidFill>
                  <a:srgbClr val="E2E8F0"/>
                </a:solidFill>
              </a:rPr>
              <a:t>Meharry Medical College</a:t>
            </a:r>
          </a:p>
          <a:p>
            <a:pPr marL="0" indent="0">
              <a:buNone/>
            </a:pPr>
            <a:r>
              <a:rPr lang="en-US" sz="1600" dirty="0">
                <a:solidFill>
                  <a:srgbClr val="E2E8F0"/>
                </a:solidFill>
              </a:rPr>
              <a:t>MSDS535 • Further Programming Languages for Data Science</a:t>
            </a:r>
            <a:endParaRPr lang="en-US" sz="1600" dirty="0"/>
          </a:p>
          <a:p>
            <a:pPr marL="0" indent="0">
              <a:buNone/>
            </a:pPr>
            <a:r>
              <a:rPr lang="en-US" sz="1600" dirty="0">
                <a:solidFill>
                  <a:srgbClr val="E2E8F0"/>
                </a:solidFill>
              </a:rPr>
              <a:t>Student: Opeyemi Omotosho</a:t>
            </a:r>
          </a:p>
          <a:p>
            <a:pPr marL="0" indent="0">
              <a:buNone/>
            </a:pPr>
            <a:r>
              <a:rPr lang="en-US" sz="1600" dirty="0">
                <a:solidFill>
                  <a:srgbClr val="E2E8F0"/>
                </a:solidFill>
              </a:rPr>
              <a:t>Major: Masters of Science in Artificial Intelligence</a:t>
            </a:r>
            <a:endParaRPr lang="en-US" sz="1600" dirty="0"/>
          </a:p>
        </p:txBody>
      </p:sp>
      <p:sp>
        <p:nvSpPr>
          <p:cNvPr id="8" name="Shape 5"/>
          <p:cNvSpPr/>
          <p:nvPr/>
        </p:nvSpPr>
        <p:spPr>
          <a:xfrm>
            <a:off x="6949440" y="1133856"/>
            <a:ext cx="4526280" cy="4069080"/>
          </a:xfrm>
          <a:prstGeom prst="roundRect">
            <a:avLst>
              <a:gd name="adj" fmla="val 1798"/>
            </a:avLst>
          </a:prstGeom>
          <a:solidFill>
            <a:srgbClr val="FFFFFF"/>
          </a:solidFill>
          <a:ln w="12700">
            <a:solidFill>
              <a:srgbClr val="CBD5E1"/>
            </a:solidFill>
            <a:prstDash val="solid"/>
          </a:ln>
          <a:effectLst>
            <a:outerShdw blurRad="19050" dist="15240" dir="2700000" algn="bl" rotWithShape="0">
              <a:srgbClr val="000000">
                <a:alpha val="16000"/>
              </a:srgbClr>
            </a:outerShdw>
          </a:effectLst>
        </p:spPr>
        <p:txBody>
          <a:bodyPr/>
          <a:lstStyle/>
          <a:p>
            <a:endParaRPr lang="en-US"/>
          </a:p>
        </p:txBody>
      </p:sp>
      <p:sp>
        <p:nvSpPr>
          <p:cNvPr id="9" name="Text 6"/>
          <p:cNvSpPr/>
          <p:nvPr/>
        </p:nvSpPr>
        <p:spPr>
          <a:xfrm>
            <a:off x="7242048" y="1371600"/>
            <a:ext cx="3840480" cy="274320"/>
          </a:xfrm>
          <a:prstGeom prst="rect">
            <a:avLst/>
          </a:prstGeom>
          <a:noFill/>
          <a:ln/>
        </p:spPr>
        <p:txBody>
          <a:bodyPr wrap="square" rtlCol="0" anchor="ctr"/>
          <a:lstStyle/>
          <a:p>
            <a:pPr marL="0" indent="0">
              <a:buNone/>
            </a:pPr>
            <a:r>
              <a:rPr lang="en-US" sz="2000" b="1" dirty="0">
                <a:solidFill>
                  <a:srgbClr val="0F172A"/>
                </a:solidFill>
              </a:rPr>
              <a:t>End-to-end analytics workflow</a:t>
            </a:r>
            <a:endParaRPr lang="en-US" sz="2000" dirty="0"/>
          </a:p>
        </p:txBody>
      </p:sp>
      <p:sp>
        <p:nvSpPr>
          <p:cNvPr id="10" name="Text 7"/>
          <p:cNvSpPr/>
          <p:nvPr/>
        </p:nvSpPr>
        <p:spPr>
          <a:xfrm>
            <a:off x="7108166" y="1783080"/>
            <a:ext cx="4278702" cy="2668150"/>
          </a:xfrm>
          <a:prstGeom prst="rect">
            <a:avLst/>
          </a:prstGeom>
          <a:noFill/>
          <a:ln/>
        </p:spPr>
        <p:txBody>
          <a:bodyPr wrap="square" lIns="508" tIns="508" rIns="508" bIns="508" rtlCol="0" anchor="t"/>
          <a:lstStyle/>
          <a:p>
            <a:pPr marL="177800" indent="-177800">
              <a:buSzPct val="100000"/>
              <a:buChar char="•"/>
            </a:pPr>
            <a:r>
              <a:rPr lang="en-US" sz="1600" dirty="0">
                <a:solidFill>
                  <a:srgbClr val="475569"/>
                </a:solidFill>
              </a:rPr>
              <a:t>Java Swing client for login, registration, upload, and analysis requests</a:t>
            </a:r>
          </a:p>
          <a:p>
            <a:pPr>
              <a:buSzPct val="100000"/>
            </a:pPr>
            <a:endParaRPr lang="en-US" sz="1600" dirty="0"/>
          </a:p>
          <a:p>
            <a:pPr marL="177800" indent="-177800">
              <a:buSzPct val="100000"/>
              <a:buChar char="•"/>
            </a:pPr>
            <a:r>
              <a:rPr lang="en-US" sz="1600" dirty="0">
                <a:solidFill>
                  <a:srgbClr val="475569"/>
                </a:solidFill>
              </a:rPr>
              <a:t>Java socket server to receive CSV files and load MySQL tables</a:t>
            </a:r>
          </a:p>
          <a:p>
            <a:pPr>
              <a:buSzPct val="100000"/>
            </a:pPr>
            <a:endParaRPr lang="en-US" sz="1600" dirty="0"/>
          </a:p>
          <a:p>
            <a:pPr marL="177800" indent="-177800">
              <a:buSzPct val="100000"/>
              <a:buChar char="•"/>
            </a:pPr>
            <a:r>
              <a:rPr lang="en-US" sz="1600" dirty="0">
                <a:solidFill>
                  <a:srgbClr val="475569"/>
                </a:solidFill>
              </a:rPr>
              <a:t>Python analytics engine to generate charts and a PDF report</a:t>
            </a:r>
          </a:p>
          <a:p>
            <a:pPr>
              <a:buSzPct val="100000"/>
            </a:pPr>
            <a:endParaRPr lang="en-US" sz="1600" dirty="0"/>
          </a:p>
          <a:p>
            <a:pPr marL="177800" indent="-177800">
              <a:buSzPct val="100000"/>
              <a:buChar char="•"/>
            </a:pPr>
            <a:r>
              <a:rPr lang="en-US" sz="1600" dirty="0">
                <a:solidFill>
                  <a:srgbClr val="475569"/>
                </a:solidFill>
              </a:rPr>
              <a:t>GitHub submission repository for final deliverables</a:t>
            </a:r>
            <a:endParaRPr lang="en-US" sz="1600" dirty="0"/>
          </a:p>
        </p:txBody>
      </p:sp>
      <p:sp>
        <p:nvSpPr>
          <p:cNvPr id="11" name="Text 8"/>
          <p:cNvSpPr/>
          <p:nvPr/>
        </p:nvSpPr>
        <p:spPr>
          <a:xfrm>
            <a:off x="7242048" y="4590288"/>
            <a:ext cx="3703320" cy="384048"/>
          </a:xfrm>
          <a:prstGeom prst="rect">
            <a:avLst/>
          </a:prstGeom>
          <a:noFill/>
          <a:ln/>
        </p:spPr>
        <p:txBody>
          <a:bodyPr wrap="square" rtlCol="0" anchor="ctr"/>
          <a:lstStyle/>
          <a:p>
            <a:pPr marL="0" indent="0">
              <a:buNone/>
            </a:pPr>
            <a:r>
              <a:rPr lang="en-US" sz="1400" i="1" dirty="0">
                <a:solidFill>
                  <a:srgbClr val="2563EB"/>
                </a:solidFill>
              </a:rPr>
              <a:t>Presentation focus: architecture, workflow, results, and roadblocks resolved</a:t>
            </a:r>
            <a:endParaRPr lang="en-US" sz="1400" dirty="0"/>
          </a:p>
        </p:txBody>
      </p:sp>
      <p:sp>
        <p:nvSpPr>
          <p:cNvPr id="25" name="Slide Number Placeholder 0"/>
          <p:cNvSpPr>
            <a:spLocks noGrp="1"/>
          </p:cNvSpPr>
          <p:nvPr>
            <p:ph type="sldNum" sz="quarter" idx="4294967295"/>
          </p:nvPr>
        </p:nvSpPr>
        <p:spPr>
          <a:xfrm>
            <a:off x="11704320" y="6565392"/>
            <a:ext cx="274320" cy="164592"/>
          </a:xfrm>
          <a:prstGeom prst="rect">
            <a:avLst/>
          </a:prstGeom>
          <a:extLst>
            <a:ext uri="{C572A759-6A51-4108-AA02-DFA0A04FC94B}">
              <ma14:wrappingTextBoxFlag xmlns:ma14="http://schemas.microsoft.com/office/mac/drawingml/2011/main" xmlns="" val="0"/>
            </a:ext>
          </a:extLst>
        </p:spPr>
        <p:txBody>
          <a:bodyPr/>
          <a:lstStyle>
            <a:lvl1pPr>
              <a:defRPr sz="1000">
                <a:solidFill>
                  <a:srgbClr val="E2E8F0"/>
                </a:solidFill>
              </a:defRPr>
            </a:lvl1pPr>
          </a:lstStyle>
          <a:p>
            <a:pPr algn="l"/>
            <a:fld id="{F7021451-1387-4CA6-816F-3879F97B5CBC}" type="slidenum">
              <a:rPr lang="en-US" b="0"/>
              <a:t>1</a:t>
            </a:fld>
            <a:endParaRPr lang="en-US"/>
          </a:p>
        </p:txBody>
      </p:sp>
      <p:pic>
        <p:nvPicPr>
          <p:cNvPr id="13" name="Picture 12">
            <a:extLst>
              <a:ext uri="{FF2B5EF4-FFF2-40B4-BE49-F238E27FC236}">
                <a16:creationId xmlns:a16="http://schemas.microsoft.com/office/drawing/2014/main" id="{A9CC7AF0-FAAA-8795-50FE-FF5D86649F87}"/>
              </a:ext>
            </a:extLst>
          </p:cNvPr>
          <p:cNvPicPr>
            <a:picLocks noChangeAspect="1"/>
          </p:cNvPicPr>
          <p:nvPr/>
        </p:nvPicPr>
        <p:blipFill>
          <a:blip r:embed="rId4"/>
          <a:stretch>
            <a:fillRect/>
          </a:stretch>
        </p:blipFill>
        <p:spPr>
          <a:xfrm>
            <a:off x="384128" y="3766895"/>
            <a:ext cx="1775276" cy="138333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658368"/>
            <a:ext cx="6858000" cy="384048"/>
          </a:xfrm>
          <a:prstGeom prst="rect">
            <a:avLst/>
          </a:prstGeom>
          <a:noFill/>
          <a:ln/>
        </p:spPr>
        <p:txBody>
          <a:bodyPr wrap="square" rtlCol="0" anchor="ctr"/>
          <a:lstStyle/>
          <a:p>
            <a:pPr marL="0" indent="0">
              <a:buNone/>
            </a:pPr>
            <a:r>
              <a:rPr lang="en-US" sz="2600" b="1" dirty="0">
                <a:solidFill>
                  <a:srgbClr val="0F172A"/>
                </a:solidFill>
                <a:latin typeface="Aptos Display" pitchFamily="34" charset="0"/>
                <a:ea typeface="Aptos Display" pitchFamily="34" charset="-122"/>
                <a:cs typeface="Aptos Display" pitchFamily="34" charset="-120"/>
              </a:rPr>
              <a:t>System Architecture</a:t>
            </a:r>
            <a:endParaRPr lang="en-US" sz="2600" dirty="0"/>
          </a:p>
        </p:txBody>
      </p:sp>
      <p:sp>
        <p:nvSpPr>
          <p:cNvPr id="3" name="Text 1"/>
          <p:cNvSpPr/>
          <p:nvPr/>
        </p:nvSpPr>
        <p:spPr>
          <a:xfrm>
            <a:off x="530352" y="1060704"/>
            <a:ext cx="8046720" cy="256032"/>
          </a:xfrm>
          <a:prstGeom prst="rect">
            <a:avLst/>
          </a:prstGeom>
          <a:noFill/>
          <a:ln/>
        </p:spPr>
        <p:txBody>
          <a:bodyPr wrap="square" rtlCol="0" anchor="ctr"/>
          <a:lstStyle/>
          <a:p>
            <a:pPr marL="0" indent="0">
              <a:buNone/>
            </a:pPr>
            <a:r>
              <a:rPr lang="en-US" sz="1250" dirty="0">
                <a:solidFill>
                  <a:srgbClr val="475569"/>
                </a:solidFill>
              </a:rPr>
              <a:t>How data moves from the desktop UI to the final analytics report</a:t>
            </a:r>
            <a:endParaRPr lang="en-US" sz="1250" dirty="0"/>
          </a:p>
        </p:txBody>
      </p:sp>
      <p:sp>
        <p:nvSpPr>
          <p:cNvPr id="4" name="Shape 2"/>
          <p:cNvSpPr/>
          <p:nvPr/>
        </p:nvSpPr>
        <p:spPr>
          <a:xfrm>
            <a:off x="368968" y="1874520"/>
            <a:ext cx="1981040" cy="960120"/>
          </a:xfrm>
          <a:prstGeom prst="roundRect">
            <a:avLst>
              <a:gd name="adj" fmla="val 7619"/>
            </a:avLst>
          </a:prstGeom>
          <a:solidFill>
            <a:srgbClr val="DBEAFE"/>
          </a:solidFill>
          <a:ln w="15240">
            <a:solidFill>
              <a:srgbClr val="CBD5E1"/>
            </a:solidFill>
            <a:prstDash val="solid"/>
          </a:ln>
          <a:effectLst>
            <a:outerShdw blurRad="12700" dist="10160" dir="2700000" algn="bl" rotWithShape="0">
              <a:srgbClr val="000000">
                <a:alpha val="12000"/>
              </a:srgbClr>
            </a:outerShdw>
          </a:effectLst>
        </p:spPr>
        <p:txBody>
          <a:bodyPr/>
          <a:lstStyle/>
          <a:p>
            <a:endParaRPr lang="en-US"/>
          </a:p>
        </p:txBody>
      </p:sp>
      <p:sp>
        <p:nvSpPr>
          <p:cNvPr id="5" name="Text 3"/>
          <p:cNvSpPr/>
          <p:nvPr/>
        </p:nvSpPr>
        <p:spPr>
          <a:xfrm>
            <a:off x="537890" y="1915428"/>
            <a:ext cx="1655064" cy="238225"/>
          </a:xfrm>
          <a:prstGeom prst="rect">
            <a:avLst/>
          </a:prstGeom>
          <a:noFill/>
          <a:ln/>
        </p:spPr>
        <p:txBody>
          <a:bodyPr wrap="square" rtlCol="0" anchor="ctr"/>
          <a:lstStyle/>
          <a:p>
            <a:pPr marL="0" indent="0" algn="ctr">
              <a:buNone/>
            </a:pPr>
            <a:r>
              <a:rPr lang="en-US" sz="1800" b="1" dirty="0">
                <a:solidFill>
                  <a:srgbClr val="0F172A"/>
                </a:solidFill>
              </a:rPr>
              <a:t>Java Client UI</a:t>
            </a:r>
            <a:endParaRPr lang="en-US" sz="1800" dirty="0"/>
          </a:p>
        </p:txBody>
      </p:sp>
      <p:sp>
        <p:nvSpPr>
          <p:cNvPr id="6" name="Text 4"/>
          <p:cNvSpPr/>
          <p:nvPr/>
        </p:nvSpPr>
        <p:spPr>
          <a:xfrm>
            <a:off x="685800" y="2313432"/>
            <a:ext cx="1481328" cy="310896"/>
          </a:xfrm>
          <a:prstGeom prst="rect">
            <a:avLst/>
          </a:prstGeom>
          <a:noFill/>
          <a:ln/>
        </p:spPr>
        <p:txBody>
          <a:bodyPr wrap="square" rtlCol="0" anchor="ctr"/>
          <a:lstStyle/>
          <a:p>
            <a:pPr marL="0" indent="0" algn="ctr">
              <a:buNone/>
            </a:pPr>
            <a:r>
              <a:rPr lang="en-US" sz="1250" dirty="0">
                <a:solidFill>
                  <a:srgbClr val="475569"/>
                </a:solidFill>
              </a:rPr>
              <a:t>Login • Register</a:t>
            </a:r>
            <a:endParaRPr lang="en-US" sz="1250" dirty="0"/>
          </a:p>
          <a:p>
            <a:pPr marL="0" indent="0" algn="ctr">
              <a:buNone/>
            </a:pPr>
            <a:r>
              <a:rPr lang="en-US" sz="1250" dirty="0">
                <a:solidFill>
                  <a:srgbClr val="475569"/>
                </a:solidFill>
              </a:rPr>
              <a:t>Upload CSV • Analyze</a:t>
            </a:r>
            <a:endParaRPr lang="en-US" sz="1250" dirty="0"/>
          </a:p>
        </p:txBody>
      </p:sp>
      <p:sp>
        <p:nvSpPr>
          <p:cNvPr id="7" name="Shape 5"/>
          <p:cNvSpPr/>
          <p:nvPr/>
        </p:nvSpPr>
        <p:spPr>
          <a:xfrm>
            <a:off x="2901455" y="1865376"/>
            <a:ext cx="1837061" cy="960120"/>
          </a:xfrm>
          <a:prstGeom prst="roundRect">
            <a:avLst>
              <a:gd name="adj" fmla="val 7619"/>
            </a:avLst>
          </a:prstGeom>
          <a:solidFill>
            <a:srgbClr val="FEF3C7"/>
          </a:solidFill>
          <a:ln w="15240">
            <a:solidFill>
              <a:srgbClr val="CBD5E1"/>
            </a:solidFill>
            <a:prstDash val="solid"/>
          </a:ln>
          <a:effectLst>
            <a:outerShdw blurRad="12700" dist="10160" dir="2700000" algn="bl" rotWithShape="0">
              <a:srgbClr val="000000">
                <a:alpha val="12000"/>
              </a:srgbClr>
            </a:outerShdw>
          </a:effectLst>
        </p:spPr>
        <p:txBody>
          <a:bodyPr/>
          <a:lstStyle/>
          <a:p>
            <a:endParaRPr lang="en-US"/>
          </a:p>
        </p:txBody>
      </p:sp>
      <p:sp>
        <p:nvSpPr>
          <p:cNvPr id="8" name="Text 6"/>
          <p:cNvSpPr/>
          <p:nvPr/>
        </p:nvSpPr>
        <p:spPr>
          <a:xfrm>
            <a:off x="2979779" y="1854918"/>
            <a:ext cx="1680411" cy="329184"/>
          </a:xfrm>
          <a:prstGeom prst="rect">
            <a:avLst/>
          </a:prstGeom>
          <a:noFill/>
          <a:ln/>
        </p:spPr>
        <p:txBody>
          <a:bodyPr wrap="square" rtlCol="0" anchor="ctr"/>
          <a:lstStyle/>
          <a:p>
            <a:pPr marL="0" indent="0" algn="ctr">
              <a:buNone/>
            </a:pPr>
            <a:r>
              <a:rPr lang="en-US" sz="1800" b="1" dirty="0">
                <a:solidFill>
                  <a:srgbClr val="0F172A"/>
                </a:solidFill>
              </a:rPr>
              <a:t>Socket Server</a:t>
            </a:r>
            <a:endParaRPr lang="en-US" sz="1800" dirty="0"/>
          </a:p>
        </p:txBody>
      </p:sp>
      <p:sp>
        <p:nvSpPr>
          <p:cNvPr id="9" name="Text 7"/>
          <p:cNvSpPr/>
          <p:nvPr/>
        </p:nvSpPr>
        <p:spPr>
          <a:xfrm>
            <a:off x="3039299" y="2346471"/>
            <a:ext cx="1481328" cy="310896"/>
          </a:xfrm>
          <a:prstGeom prst="rect">
            <a:avLst/>
          </a:prstGeom>
          <a:noFill/>
          <a:ln/>
        </p:spPr>
        <p:txBody>
          <a:bodyPr wrap="square" rtlCol="0" anchor="ctr"/>
          <a:lstStyle/>
          <a:p>
            <a:pPr marL="0" indent="0" algn="ctr">
              <a:buNone/>
            </a:pPr>
            <a:r>
              <a:rPr lang="en-US" sz="1250" dirty="0">
                <a:solidFill>
                  <a:srgbClr val="475569"/>
                </a:solidFill>
              </a:rPr>
              <a:t>Receives files</a:t>
            </a:r>
            <a:endParaRPr lang="en-US" sz="1250" dirty="0"/>
          </a:p>
          <a:p>
            <a:pPr marL="0" indent="0" algn="ctr">
              <a:buNone/>
            </a:pPr>
            <a:r>
              <a:rPr lang="en-US" sz="1250" dirty="0">
                <a:solidFill>
                  <a:srgbClr val="475569"/>
                </a:solidFill>
              </a:rPr>
              <a:t>Handles commands</a:t>
            </a:r>
            <a:endParaRPr lang="en-US" sz="1250" dirty="0"/>
          </a:p>
        </p:txBody>
      </p:sp>
      <p:sp>
        <p:nvSpPr>
          <p:cNvPr id="10" name="Shape 8"/>
          <p:cNvSpPr/>
          <p:nvPr/>
        </p:nvSpPr>
        <p:spPr>
          <a:xfrm>
            <a:off x="5338172" y="1887353"/>
            <a:ext cx="1796073" cy="960120"/>
          </a:xfrm>
          <a:prstGeom prst="roundRect">
            <a:avLst>
              <a:gd name="adj" fmla="val 7619"/>
            </a:avLst>
          </a:prstGeom>
          <a:solidFill>
            <a:srgbClr val="DCFCE7"/>
          </a:solidFill>
          <a:ln w="15240">
            <a:solidFill>
              <a:srgbClr val="CBD5E1"/>
            </a:solidFill>
            <a:prstDash val="solid"/>
          </a:ln>
          <a:effectLst>
            <a:outerShdw blurRad="12700" dist="10160" dir="2700000" algn="bl" rotWithShape="0">
              <a:srgbClr val="000000">
                <a:alpha val="12000"/>
              </a:srgbClr>
            </a:outerShdw>
          </a:effectLst>
        </p:spPr>
        <p:txBody>
          <a:bodyPr/>
          <a:lstStyle/>
          <a:p>
            <a:endParaRPr lang="en-US"/>
          </a:p>
        </p:txBody>
      </p:sp>
      <p:sp>
        <p:nvSpPr>
          <p:cNvPr id="11" name="Text 9"/>
          <p:cNvSpPr/>
          <p:nvPr/>
        </p:nvSpPr>
        <p:spPr>
          <a:xfrm>
            <a:off x="5546319" y="1956816"/>
            <a:ext cx="1481328" cy="219456"/>
          </a:xfrm>
          <a:prstGeom prst="rect">
            <a:avLst/>
          </a:prstGeom>
          <a:noFill/>
          <a:ln/>
        </p:spPr>
        <p:txBody>
          <a:bodyPr wrap="square" rtlCol="0" anchor="ctr"/>
          <a:lstStyle/>
          <a:p>
            <a:pPr marL="0" indent="0" algn="ctr">
              <a:buNone/>
            </a:pPr>
            <a:r>
              <a:rPr lang="en-US" sz="1800" b="1" dirty="0">
                <a:solidFill>
                  <a:srgbClr val="0F172A"/>
                </a:solidFill>
              </a:rPr>
              <a:t>MySQL</a:t>
            </a:r>
            <a:endParaRPr lang="en-US" sz="1800" dirty="0"/>
          </a:p>
        </p:txBody>
      </p:sp>
      <p:sp>
        <p:nvSpPr>
          <p:cNvPr id="12" name="Text 10"/>
          <p:cNvSpPr/>
          <p:nvPr/>
        </p:nvSpPr>
        <p:spPr>
          <a:xfrm>
            <a:off x="5491934" y="2313432"/>
            <a:ext cx="1481328" cy="310896"/>
          </a:xfrm>
          <a:prstGeom prst="rect">
            <a:avLst/>
          </a:prstGeom>
          <a:noFill/>
          <a:ln/>
        </p:spPr>
        <p:txBody>
          <a:bodyPr wrap="square" rtlCol="0" anchor="ctr"/>
          <a:lstStyle/>
          <a:p>
            <a:pPr marL="0" indent="0" algn="ctr">
              <a:buNone/>
            </a:pPr>
            <a:r>
              <a:rPr lang="en-US" sz="1250" dirty="0">
                <a:solidFill>
                  <a:srgbClr val="475569"/>
                </a:solidFill>
              </a:rPr>
              <a:t>aviationDB</a:t>
            </a:r>
            <a:endParaRPr lang="en-US" sz="1250" dirty="0"/>
          </a:p>
          <a:p>
            <a:pPr marL="0" indent="0" algn="ctr">
              <a:buNone/>
            </a:pPr>
            <a:r>
              <a:rPr lang="en-US" sz="1250" dirty="0">
                <a:solidFill>
                  <a:srgbClr val="475569"/>
                </a:solidFill>
              </a:rPr>
              <a:t>6 tables</a:t>
            </a:r>
            <a:endParaRPr lang="en-US" sz="1250" dirty="0"/>
          </a:p>
        </p:txBody>
      </p:sp>
      <p:sp>
        <p:nvSpPr>
          <p:cNvPr id="13" name="Shape 11"/>
          <p:cNvSpPr/>
          <p:nvPr/>
        </p:nvSpPr>
        <p:spPr>
          <a:xfrm>
            <a:off x="7726680" y="1874520"/>
            <a:ext cx="2080984" cy="960120"/>
          </a:xfrm>
          <a:prstGeom prst="roundRect">
            <a:avLst>
              <a:gd name="adj" fmla="val 7619"/>
            </a:avLst>
          </a:prstGeom>
          <a:solidFill>
            <a:srgbClr val="FCE7F3"/>
          </a:solidFill>
          <a:ln w="15240">
            <a:solidFill>
              <a:srgbClr val="CBD5E1"/>
            </a:solidFill>
            <a:prstDash val="solid"/>
          </a:ln>
          <a:effectLst>
            <a:outerShdw blurRad="12700" dist="10160" dir="2700000" algn="bl" rotWithShape="0">
              <a:srgbClr val="000000">
                <a:alpha val="12000"/>
              </a:srgbClr>
            </a:outerShdw>
          </a:effectLst>
        </p:spPr>
        <p:txBody>
          <a:bodyPr/>
          <a:lstStyle/>
          <a:p>
            <a:endParaRPr lang="en-US"/>
          </a:p>
        </p:txBody>
      </p:sp>
      <p:sp>
        <p:nvSpPr>
          <p:cNvPr id="14" name="Text 12"/>
          <p:cNvSpPr/>
          <p:nvPr/>
        </p:nvSpPr>
        <p:spPr>
          <a:xfrm>
            <a:off x="7772239" y="1939009"/>
            <a:ext cx="1966984" cy="219456"/>
          </a:xfrm>
          <a:prstGeom prst="rect">
            <a:avLst/>
          </a:prstGeom>
          <a:noFill/>
          <a:ln/>
        </p:spPr>
        <p:txBody>
          <a:bodyPr wrap="square" rtlCol="0" anchor="ctr"/>
          <a:lstStyle/>
          <a:p>
            <a:pPr marL="0" indent="0" algn="ctr">
              <a:buNone/>
            </a:pPr>
            <a:r>
              <a:rPr lang="en-US" sz="1800" b="1" dirty="0">
                <a:solidFill>
                  <a:srgbClr val="0F172A"/>
                </a:solidFill>
              </a:rPr>
              <a:t>Python Analytics</a:t>
            </a:r>
            <a:endParaRPr lang="en-US" sz="1800" dirty="0"/>
          </a:p>
        </p:txBody>
      </p:sp>
      <p:sp>
        <p:nvSpPr>
          <p:cNvPr id="15" name="Text 13"/>
          <p:cNvSpPr/>
          <p:nvPr/>
        </p:nvSpPr>
        <p:spPr>
          <a:xfrm>
            <a:off x="8015067" y="2326265"/>
            <a:ext cx="1481328" cy="310896"/>
          </a:xfrm>
          <a:prstGeom prst="rect">
            <a:avLst/>
          </a:prstGeom>
          <a:noFill/>
          <a:ln/>
        </p:spPr>
        <p:txBody>
          <a:bodyPr wrap="square" rtlCol="0" anchor="ctr"/>
          <a:lstStyle/>
          <a:p>
            <a:pPr marL="0" indent="0" algn="ctr">
              <a:buNone/>
            </a:pPr>
            <a:r>
              <a:rPr lang="en-US" sz="1250" dirty="0">
                <a:solidFill>
                  <a:srgbClr val="475569"/>
                </a:solidFill>
              </a:rPr>
              <a:t>pandas • matplotlib</a:t>
            </a:r>
            <a:endParaRPr lang="en-US" sz="1250" dirty="0"/>
          </a:p>
          <a:p>
            <a:pPr marL="0" indent="0" algn="ctr">
              <a:buNone/>
            </a:pPr>
            <a:r>
              <a:rPr lang="en-US" sz="1250" dirty="0">
                <a:solidFill>
                  <a:srgbClr val="475569"/>
                </a:solidFill>
              </a:rPr>
              <a:t>fpdf</a:t>
            </a:r>
            <a:endParaRPr lang="en-US" sz="1250" dirty="0"/>
          </a:p>
        </p:txBody>
      </p:sp>
      <p:sp>
        <p:nvSpPr>
          <p:cNvPr id="16" name="Shape 14"/>
          <p:cNvSpPr/>
          <p:nvPr/>
        </p:nvSpPr>
        <p:spPr>
          <a:xfrm>
            <a:off x="10254274" y="1887353"/>
            <a:ext cx="1664208" cy="960120"/>
          </a:xfrm>
          <a:prstGeom prst="roundRect">
            <a:avLst>
              <a:gd name="adj" fmla="val 7619"/>
            </a:avLst>
          </a:prstGeom>
          <a:solidFill>
            <a:srgbClr val="EDE9FE"/>
          </a:solidFill>
          <a:ln w="15240">
            <a:solidFill>
              <a:srgbClr val="CBD5E1"/>
            </a:solidFill>
            <a:prstDash val="solid"/>
          </a:ln>
          <a:effectLst>
            <a:outerShdw blurRad="12700" dist="10160" dir="2700000" algn="bl" rotWithShape="0">
              <a:srgbClr val="000000">
                <a:alpha val="12000"/>
              </a:srgbClr>
            </a:outerShdw>
          </a:effectLst>
        </p:spPr>
        <p:txBody>
          <a:bodyPr/>
          <a:lstStyle/>
          <a:p>
            <a:endParaRPr lang="en-US"/>
          </a:p>
        </p:txBody>
      </p:sp>
      <p:sp>
        <p:nvSpPr>
          <p:cNvPr id="17" name="Text 15"/>
          <p:cNvSpPr/>
          <p:nvPr/>
        </p:nvSpPr>
        <p:spPr>
          <a:xfrm>
            <a:off x="10305288" y="1965960"/>
            <a:ext cx="1481328" cy="219456"/>
          </a:xfrm>
          <a:prstGeom prst="rect">
            <a:avLst/>
          </a:prstGeom>
          <a:noFill/>
          <a:ln/>
        </p:spPr>
        <p:txBody>
          <a:bodyPr wrap="square" rtlCol="0" anchor="ctr"/>
          <a:lstStyle/>
          <a:p>
            <a:pPr marL="0" indent="0" algn="ctr">
              <a:buNone/>
            </a:pPr>
            <a:r>
              <a:rPr lang="en-US" sz="1800" b="1" dirty="0">
                <a:solidFill>
                  <a:srgbClr val="0F172A"/>
                </a:solidFill>
              </a:rPr>
              <a:t>PDF Report</a:t>
            </a:r>
            <a:endParaRPr lang="en-US" sz="1800" dirty="0"/>
          </a:p>
        </p:txBody>
      </p:sp>
      <p:sp>
        <p:nvSpPr>
          <p:cNvPr id="18" name="Text 16"/>
          <p:cNvSpPr/>
          <p:nvPr/>
        </p:nvSpPr>
        <p:spPr>
          <a:xfrm>
            <a:off x="10345714" y="2304288"/>
            <a:ext cx="1481328" cy="310896"/>
          </a:xfrm>
          <a:prstGeom prst="rect">
            <a:avLst/>
          </a:prstGeom>
          <a:noFill/>
          <a:ln/>
        </p:spPr>
        <p:txBody>
          <a:bodyPr wrap="square" rtlCol="0" anchor="ctr"/>
          <a:lstStyle/>
          <a:p>
            <a:pPr marL="0" indent="0" algn="ctr">
              <a:buNone/>
            </a:pPr>
            <a:r>
              <a:rPr lang="en-US" sz="1250" dirty="0">
                <a:solidFill>
                  <a:srgbClr val="475569"/>
                </a:solidFill>
              </a:rPr>
              <a:t>Insights + charts</a:t>
            </a:r>
            <a:endParaRPr lang="en-US" sz="1250" dirty="0"/>
          </a:p>
          <a:p>
            <a:pPr marL="0" indent="0" algn="ctr">
              <a:buNone/>
            </a:pPr>
            <a:r>
              <a:rPr lang="en-US" sz="1250" dirty="0">
                <a:solidFill>
                  <a:srgbClr val="475569"/>
                </a:solidFill>
              </a:rPr>
              <a:t>Download to client</a:t>
            </a:r>
            <a:endParaRPr lang="en-US" sz="1250" dirty="0"/>
          </a:p>
        </p:txBody>
      </p:sp>
      <p:sp>
        <p:nvSpPr>
          <p:cNvPr id="19" name="Shape 17"/>
          <p:cNvSpPr/>
          <p:nvPr/>
        </p:nvSpPr>
        <p:spPr>
          <a:xfrm>
            <a:off x="2514600" y="2185416"/>
            <a:ext cx="219456" cy="237744"/>
          </a:xfrm>
          <a:prstGeom prst="chevron">
            <a:avLst/>
          </a:prstGeom>
          <a:solidFill>
            <a:srgbClr val="F59E0B"/>
          </a:solidFill>
          <a:ln w="12700">
            <a:solidFill>
              <a:srgbClr val="F59E0B"/>
            </a:solidFill>
            <a:prstDash val="solid"/>
          </a:ln>
        </p:spPr>
        <p:txBody>
          <a:bodyPr/>
          <a:lstStyle/>
          <a:p>
            <a:endParaRPr lang="en-US"/>
          </a:p>
        </p:txBody>
      </p:sp>
      <p:sp>
        <p:nvSpPr>
          <p:cNvPr id="20" name="Shape 18"/>
          <p:cNvSpPr/>
          <p:nvPr/>
        </p:nvSpPr>
        <p:spPr>
          <a:xfrm>
            <a:off x="5020056" y="2185416"/>
            <a:ext cx="219456" cy="237744"/>
          </a:xfrm>
          <a:prstGeom prst="chevron">
            <a:avLst/>
          </a:prstGeom>
          <a:solidFill>
            <a:srgbClr val="F59E0B"/>
          </a:solidFill>
          <a:ln w="12700">
            <a:solidFill>
              <a:srgbClr val="F59E0B"/>
            </a:solidFill>
            <a:prstDash val="solid"/>
          </a:ln>
        </p:spPr>
        <p:txBody>
          <a:bodyPr/>
          <a:lstStyle/>
          <a:p>
            <a:endParaRPr lang="en-US"/>
          </a:p>
        </p:txBody>
      </p:sp>
      <p:sp>
        <p:nvSpPr>
          <p:cNvPr id="21" name="Shape 19"/>
          <p:cNvSpPr/>
          <p:nvPr/>
        </p:nvSpPr>
        <p:spPr>
          <a:xfrm>
            <a:off x="7320734" y="2177234"/>
            <a:ext cx="219456" cy="237744"/>
          </a:xfrm>
          <a:prstGeom prst="chevron">
            <a:avLst/>
          </a:prstGeom>
          <a:solidFill>
            <a:srgbClr val="F59E0B"/>
          </a:solidFill>
          <a:ln w="12700">
            <a:solidFill>
              <a:srgbClr val="F59E0B"/>
            </a:solidFill>
            <a:prstDash val="solid"/>
          </a:ln>
        </p:spPr>
        <p:txBody>
          <a:bodyPr/>
          <a:lstStyle/>
          <a:p>
            <a:endParaRPr lang="en-US"/>
          </a:p>
        </p:txBody>
      </p:sp>
      <p:sp>
        <p:nvSpPr>
          <p:cNvPr id="22" name="Shape 20"/>
          <p:cNvSpPr/>
          <p:nvPr/>
        </p:nvSpPr>
        <p:spPr>
          <a:xfrm>
            <a:off x="9921241" y="2177234"/>
            <a:ext cx="219456" cy="237744"/>
          </a:xfrm>
          <a:prstGeom prst="chevron">
            <a:avLst/>
          </a:prstGeom>
          <a:solidFill>
            <a:srgbClr val="F59E0B"/>
          </a:solidFill>
          <a:ln w="12700">
            <a:solidFill>
              <a:srgbClr val="F59E0B"/>
            </a:solidFill>
            <a:prstDash val="solid"/>
          </a:ln>
        </p:spPr>
        <p:txBody>
          <a:bodyPr/>
          <a:lstStyle/>
          <a:p>
            <a:endParaRPr lang="en-US"/>
          </a:p>
        </p:txBody>
      </p:sp>
      <p:sp>
        <p:nvSpPr>
          <p:cNvPr id="23" name="Shape 21"/>
          <p:cNvSpPr/>
          <p:nvPr/>
        </p:nvSpPr>
        <p:spPr>
          <a:xfrm>
            <a:off x="364958" y="3337560"/>
            <a:ext cx="5430732" cy="2240280"/>
          </a:xfrm>
          <a:prstGeom prst="roundRect">
            <a:avLst>
              <a:gd name="adj" fmla="val 3265"/>
            </a:avLst>
          </a:prstGeom>
          <a:solidFill>
            <a:srgbClr val="FFFFFF"/>
          </a:solidFill>
          <a:ln w="12700">
            <a:solidFill>
              <a:srgbClr val="CBD5E1"/>
            </a:solidFill>
            <a:prstDash val="solid"/>
          </a:ln>
          <a:effectLst>
            <a:outerShdw blurRad="19050" dist="15240" dir="2700000" algn="bl" rotWithShape="0">
              <a:srgbClr val="000000">
                <a:alpha val="16000"/>
              </a:srgbClr>
            </a:outerShdw>
          </a:effectLst>
        </p:spPr>
        <p:txBody>
          <a:bodyPr/>
          <a:lstStyle/>
          <a:p>
            <a:endParaRPr lang="en-US"/>
          </a:p>
        </p:txBody>
      </p:sp>
      <p:sp>
        <p:nvSpPr>
          <p:cNvPr id="24" name="Text 22"/>
          <p:cNvSpPr/>
          <p:nvPr/>
        </p:nvSpPr>
        <p:spPr>
          <a:xfrm>
            <a:off x="1078992" y="3611880"/>
            <a:ext cx="3941064" cy="274320"/>
          </a:xfrm>
          <a:prstGeom prst="rect">
            <a:avLst/>
          </a:prstGeom>
          <a:noFill/>
          <a:ln/>
        </p:spPr>
        <p:txBody>
          <a:bodyPr wrap="square" rtlCol="0" anchor="ctr"/>
          <a:lstStyle/>
          <a:p>
            <a:pPr marL="0" indent="0">
              <a:buNone/>
            </a:pPr>
            <a:r>
              <a:rPr lang="en-US" sz="2100" b="1" dirty="0">
                <a:solidFill>
                  <a:srgbClr val="0F172A"/>
                </a:solidFill>
              </a:rPr>
              <a:t>Why this architecture worked</a:t>
            </a:r>
            <a:endParaRPr lang="en-US" sz="2100" dirty="0"/>
          </a:p>
        </p:txBody>
      </p:sp>
      <p:sp>
        <p:nvSpPr>
          <p:cNvPr id="25" name="Text 23"/>
          <p:cNvSpPr/>
          <p:nvPr/>
        </p:nvSpPr>
        <p:spPr>
          <a:xfrm>
            <a:off x="609600" y="3950208"/>
            <a:ext cx="5013960" cy="1325880"/>
          </a:xfrm>
          <a:prstGeom prst="rect">
            <a:avLst/>
          </a:prstGeom>
          <a:noFill/>
          <a:ln/>
        </p:spPr>
        <p:txBody>
          <a:bodyPr wrap="square" lIns="508" tIns="508" rIns="508" bIns="508" rtlCol="0" anchor="t"/>
          <a:lstStyle/>
          <a:p>
            <a:pPr marL="177800" indent="-177800">
              <a:buSzPct val="100000"/>
              <a:buChar char="•"/>
            </a:pPr>
            <a:r>
              <a:rPr lang="en-US" sz="1550" dirty="0">
                <a:solidFill>
                  <a:srgbClr val="475569"/>
                </a:solidFill>
              </a:rPr>
              <a:t>Clear separation of concerns across UI, transport, storage, analytics, and reporting</a:t>
            </a:r>
            <a:endParaRPr lang="en-US" sz="1550" dirty="0"/>
          </a:p>
          <a:p>
            <a:pPr marL="177800" indent="-177800">
              <a:buSzPct val="100000"/>
              <a:buChar char="•"/>
            </a:pPr>
            <a:r>
              <a:rPr lang="en-US" sz="1550" dirty="0">
                <a:solidFill>
                  <a:srgbClr val="475569"/>
                </a:solidFill>
              </a:rPr>
              <a:t>CSV uploads populate the exact database tables expected by the analytics script</a:t>
            </a:r>
            <a:endParaRPr lang="en-US" sz="1550" dirty="0"/>
          </a:p>
          <a:p>
            <a:pPr marL="177800" indent="-177800">
              <a:buSzPct val="100000"/>
              <a:buChar char="•"/>
            </a:pPr>
            <a:r>
              <a:rPr lang="en-US" sz="1550" dirty="0">
                <a:solidFill>
                  <a:srgbClr val="475569"/>
                </a:solidFill>
              </a:rPr>
              <a:t>The server coordinates Java + Python execution while keeping the workflow simple</a:t>
            </a:r>
            <a:endParaRPr lang="en-US" sz="1550" dirty="0"/>
          </a:p>
        </p:txBody>
      </p:sp>
      <p:sp>
        <p:nvSpPr>
          <p:cNvPr id="26" name="Shape 24"/>
          <p:cNvSpPr/>
          <p:nvPr/>
        </p:nvSpPr>
        <p:spPr>
          <a:xfrm>
            <a:off x="6286982" y="3337560"/>
            <a:ext cx="5631499" cy="2240280"/>
          </a:xfrm>
          <a:prstGeom prst="roundRect">
            <a:avLst>
              <a:gd name="adj" fmla="val 3265"/>
            </a:avLst>
          </a:prstGeom>
          <a:solidFill>
            <a:srgbClr val="FFFFFF"/>
          </a:solidFill>
          <a:ln w="12700">
            <a:solidFill>
              <a:srgbClr val="CBD5E1"/>
            </a:solidFill>
            <a:prstDash val="solid"/>
          </a:ln>
          <a:effectLst>
            <a:outerShdw blurRad="19050" dist="15240" dir="2700000" algn="bl" rotWithShape="0">
              <a:srgbClr val="000000">
                <a:alpha val="16000"/>
              </a:srgbClr>
            </a:outerShdw>
          </a:effectLst>
        </p:spPr>
        <p:txBody>
          <a:bodyPr/>
          <a:lstStyle/>
          <a:p>
            <a:endParaRPr lang="en-US"/>
          </a:p>
        </p:txBody>
      </p:sp>
      <p:sp>
        <p:nvSpPr>
          <p:cNvPr id="27" name="Text 25"/>
          <p:cNvSpPr/>
          <p:nvPr/>
        </p:nvSpPr>
        <p:spPr>
          <a:xfrm>
            <a:off x="6711696" y="3611880"/>
            <a:ext cx="2286000" cy="274320"/>
          </a:xfrm>
          <a:prstGeom prst="rect">
            <a:avLst/>
          </a:prstGeom>
          <a:noFill/>
          <a:ln/>
        </p:spPr>
        <p:txBody>
          <a:bodyPr wrap="square" rtlCol="0" anchor="ctr"/>
          <a:lstStyle/>
          <a:p>
            <a:pPr marL="0" indent="0">
              <a:buNone/>
            </a:pPr>
            <a:r>
              <a:rPr lang="en-US" sz="2100" b="1" dirty="0">
                <a:solidFill>
                  <a:srgbClr val="0F172A"/>
                </a:solidFill>
              </a:rPr>
              <a:t>Core artifacts</a:t>
            </a:r>
            <a:endParaRPr lang="en-US" sz="2100" dirty="0"/>
          </a:p>
        </p:txBody>
      </p:sp>
      <p:sp>
        <p:nvSpPr>
          <p:cNvPr id="28" name="Text 26"/>
          <p:cNvSpPr/>
          <p:nvPr/>
        </p:nvSpPr>
        <p:spPr>
          <a:xfrm>
            <a:off x="6656832" y="3950208"/>
            <a:ext cx="5170210" cy="1417320"/>
          </a:xfrm>
          <a:prstGeom prst="rect">
            <a:avLst/>
          </a:prstGeom>
          <a:noFill/>
          <a:ln/>
        </p:spPr>
        <p:txBody>
          <a:bodyPr wrap="square" lIns="508" tIns="508" rIns="508" bIns="508" rtlCol="0" anchor="t"/>
          <a:lstStyle/>
          <a:p>
            <a:pPr marL="177800" indent="-177800">
              <a:buSzPct val="100000"/>
              <a:buChar char="•"/>
            </a:pPr>
            <a:r>
              <a:rPr lang="en-US" sz="1550" dirty="0">
                <a:solidFill>
                  <a:srgbClr val="475569"/>
                </a:solidFill>
              </a:rPr>
              <a:t>Java source: Login.java, Register.java, AviationClientApp.java, AviationServerApp.java, Conn.java</a:t>
            </a:r>
            <a:endParaRPr lang="en-US" sz="1550" dirty="0"/>
          </a:p>
          <a:p>
            <a:pPr marL="177800" indent="-177800">
              <a:buSzPct val="100000"/>
              <a:buChar char="•"/>
            </a:pPr>
            <a:r>
              <a:rPr lang="en-US" sz="1550" dirty="0">
                <a:solidFill>
                  <a:srgbClr val="475569"/>
                </a:solidFill>
              </a:rPr>
              <a:t>Python: aviation_analysis.py</a:t>
            </a:r>
            <a:endParaRPr lang="en-US" sz="1550" dirty="0"/>
          </a:p>
          <a:p>
            <a:pPr marL="177800" indent="-177800">
              <a:buSzPct val="100000"/>
              <a:buChar char="•"/>
            </a:pPr>
            <a:r>
              <a:rPr lang="en-US" sz="1550" dirty="0">
                <a:solidFill>
                  <a:srgbClr val="475569"/>
                </a:solidFill>
              </a:rPr>
              <a:t>SQL: my_aviationDB.sql</a:t>
            </a:r>
            <a:endParaRPr lang="en-US" sz="1550" dirty="0"/>
          </a:p>
          <a:p>
            <a:pPr marL="177800" indent="-177800">
              <a:buSzPct val="100000"/>
              <a:buChar char="•"/>
            </a:pPr>
            <a:r>
              <a:rPr lang="en-US" sz="1550" dirty="0">
                <a:solidFill>
                  <a:srgbClr val="475569"/>
                </a:solidFill>
              </a:rPr>
              <a:t>Output: aviation_report.pdf</a:t>
            </a:r>
            <a:endParaRPr lang="en-US" sz="1550" dirty="0"/>
          </a:p>
        </p:txBody>
      </p:sp>
      <p:sp>
        <p:nvSpPr>
          <p:cNvPr id="29" name="Slide Number Placeholder 0"/>
          <p:cNvSpPr>
            <a:spLocks noGrp="1"/>
          </p:cNvSpPr>
          <p:nvPr>
            <p:ph type="sldNum" sz="quarter" idx="4294967295"/>
          </p:nvPr>
        </p:nvSpPr>
        <p:spPr>
          <a:xfrm>
            <a:off x="11704320" y="6565392"/>
            <a:ext cx="274320" cy="164592"/>
          </a:xfrm>
          <a:prstGeom prst="rect">
            <a:avLst/>
          </a:prstGeom>
          <a:extLst>
            <a:ext uri="{C572A759-6A51-4108-AA02-DFA0A04FC94B}">
              <ma14:wrappingTextBoxFlag xmlns:ma14="http://schemas.microsoft.com/office/mac/drawingml/2011/main" xmlns="" val="0"/>
            </a:ext>
          </a:extLst>
        </p:spPr>
        <p:txBody>
          <a:bodyPr/>
          <a:lstStyle>
            <a:lvl1pPr>
              <a:defRPr sz="1000">
                <a:solidFill>
                  <a:srgbClr val="E2E8F0"/>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658368"/>
            <a:ext cx="6858000" cy="384048"/>
          </a:xfrm>
          <a:prstGeom prst="rect">
            <a:avLst/>
          </a:prstGeom>
          <a:noFill/>
          <a:ln/>
        </p:spPr>
        <p:txBody>
          <a:bodyPr wrap="square" rtlCol="0" anchor="ctr"/>
          <a:lstStyle/>
          <a:p>
            <a:pPr marL="0" indent="0">
              <a:buNone/>
            </a:pPr>
            <a:r>
              <a:rPr lang="en-US" sz="2600" b="1" dirty="0">
                <a:solidFill>
                  <a:srgbClr val="0F172A"/>
                </a:solidFill>
                <a:latin typeface="Aptos Display" pitchFamily="34" charset="0"/>
                <a:ea typeface="Aptos Display" pitchFamily="34" charset="-122"/>
                <a:cs typeface="Aptos Display" pitchFamily="34" charset="-120"/>
              </a:rPr>
              <a:t>Desktop UI walkthrough</a:t>
            </a:r>
            <a:endParaRPr lang="en-US" sz="2600" dirty="0"/>
          </a:p>
        </p:txBody>
      </p:sp>
      <p:sp>
        <p:nvSpPr>
          <p:cNvPr id="3" name="Text 1"/>
          <p:cNvSpPr/>
          <p:nvPr/>
        </p:nvSpPr>
        <p:spPr>
          <a:xfrm>
            <a:off x="530352" y="1060704"/>
            <a:ext cx="8046720" cy="256032"/>
          </a:xfrm>
          <a:prstGeom prst="rect">
            <a:avLst/>
          </a:prstGeom>
          <a:noFill/>
          <a:ln/>
        </p:spPr>
        <p:txBody>
          <a:bodyPr wrap="square" rtlCol="0" anchor="ctr"/>
          <a:lstStyle/>
          <a:p>
            <a:pPr marL="0" indent="0">
              <a:buNone/>
            </a:pPr>
            <a:r>
              <a:rPr lang="en-US" sz="1250" dirty="0">
                <a:solidFill>
                  <a:srgbClr val="475569"/>
                </a:solidFill>
              </a:rPr>
              <a:t>Login and registration screens built in Java Swing</a:t>
            </a:r>
            <a:endParaRPr lang="en-US" sz="1250" dirty="0"/>
          </a:p>
        </p:txBody>
      </p:sp>
      <p:sp>
        <p:nvSpPr>
          <p:cNvPr id="4" name="Shape 2"/>
          <p:cNvSpPr/>
          <p:nvPr/>
        </p:nvSpPr>
        <p:spPr>
          <a:xfrm>
            <a:off x="566928" y="1417320"/>
            <a:ext cx="5577840" cy="4983480"/>
          </a:xfrm>
          <a:prstGeom prst="roundRect">
            <a:avLst>
              <a:gd name="adj" fmla="val 1468"/>
            </a:avLst>
          </a:prstGeom>
          <a:solidFill>
            <a:srgbClr val="FFFFFF"/>
          </a:solidFill>
          <a:ln w="12700">
            <a:solidFill>
              <a:srgbClr val="CBD5E1"/>
            </a:solidFill>
            <a:prstDash val="solid"/>
          </a:ln>
          <a:effectLst>
            <a:outerShdw blurRad="19050" dist="15240" dir="2700000" algn="bl" rotWithShape="0">
              <a:srgbClr val="000000">
                <a:alpha val="16000"/>
              </a:srgbClr>
            </a:outerShdw>
          </a:effectLst>
        </p:spPr>
        <p:txBody>
          <a:bodyPr/>
          <a:lstStyle/>
          <a:p>
            <a:endParaRPr lang="en-US"/>
          </a:p>
        </p:txBody>
      </p:sp>
      <p:sp>
        <p:nvSpPr>
          <p:cNvPr id="5" name="Text 3"/>
          <p:cNvSpPr/>
          <p:nvPr/>
        </p:nvSpPr>
        <p:spPr>
          <a:xfrm>
            <a:off x="868679" y="1600200"/>
            <a:ext cx="1814135" cy="228600"/>
          </a:xfrm>
          <a:prstGeom prst="rect">
            <a:avLst/>
          </a:prstGeom>
          <a:noFill/>
          <a:ln/>
        </p:spPr>
        <p:txBody>
          <a:bodyPr wrap="square" rtlCol="0" anchor="ctr"/>
          <a:lstStyle/>
          <a:p>
            <a:pPr marL="0" indent="0">
              <a:buNone/>
            </a:pPr>
            <a:r>
              <a:rPr lang="en-US" sz="2000" b="1" dirty="0">
                <a:solidFill>
                  <a:srgbClr val="0F172A"/>
                </a:solidFill>
              </a:rPr>
              <a:t>Login screen</a:t>
            </a:r>
            <a:endParaRPr lang="en-US" sz="2000" dirty="0"/>
          </a:p>
        </p:txBody>
      </p:sp>
      <p:sp>
        <p:nvSpPr>
          <p:cNvPr id="7" name="Shape 4"/>
          <p:cNvSpPr/>
          <p:nvPr/>
        </p:nvSpPr>
        <p:spPr>
          <a:xfrm>
            <a:off x="6291072" y="1417320"/>
            <a:ext cx="5321808" cy="4983480"/>
          </a:xfrm>
          <a:prstGeom prst="roundRect">
            <a:avLst>
              <a:gd name="adj" fmla="val 1468"/>
            </a:avLst>
          </a:prstGeom>
          <a:solidFill>
            <a:srgbClr val="FFFFFF"/>
          </a:solidFill>
          <a:ln w="12700">
            <a:solidFill>
              <a:srgbClr val="CBD5E1"/>
            </a:solidFill>
            <a:prstDash val="solid"/>
          </a:ln>
          <a:effectLst>
            <a:outerShdw blurRad="19050" dist="15240" dir="2700000" algn="bl" rotWithShape="0">
              <a:srgbClr val="000000">
                <a:alpha val="16000"/>
              </a:srgbClr>
            </a:outerShdw>
          </a:effectLst>
        </p:spPr>
        <p:txBody>
          <a:bodyPr/>
          <a:lstStyle/>
          <a:p>
            <a:endParaRPr lang="en-US"/>
          </a:p>
        </p:txBody>
      </p:sp>
      <p:sp>
        <p:nvSpPr>
          <p:cNvPr id="8" name="Text 5"/>
          <p:cNvSpPr/>
          <p:nvPr/>
        </p:nvSpPr>
        <p:spPr>
          <a:xfrm>
            <a:off x="6583679" y="1600200"/>
            <a:ext cx="2465429" cy="228600"/>
          </a:xfrm>
          <a:prstGeom prst="rect">
            <a:avLst/>
          </a:prstGeom>
          <a:noFill/>
          <a:ln/>
        </p:spPr>
        <p:txBody>
          <a:bodyPr wrap="square" rtlCol="0" anchor="ctr"/>
          <a:lstStyle/>
          <a:p>
            <a:pPr marL="0" indent="0">
              <a:buNone/>
            </a:pPr>
            <a:r>
              <a:rPr lang="en-US" sz="2000" b="1" dirty="0">
                <a:solidFill>
                  <a:srgbClr val="0F172A"/>
                </a:solidFill>
              </a:rPr>
              <a:t>Registration screen</a:t>
            </a:r>
            <a:endParaRPr lang="en-US" sz="2000" dirty="0"/>
          </a:p>
        </p:txBody>
      </p:sp>
      <p:sp>
        <p:nvSpPr>
          <p:cNvPr id="10" name="Text 6"/>
          <p:cNvSpPr/>
          <p:nvPr/>
        </p:nvSpPr>
        <p:spPr>
          <a:xfrm>
            <a:off x="6565392" y="6016752"/>
            <a:ext cx="4572000" cy="219456"/>
          </a:xfrm>
          <a:prstGeom prst="rect">
            <a:avLst/>
          </a:prstGeom>
          <a:noFill/>
          <a:ln/>
        </p:spPr>
        <p:txBody>
          <a:bodyPr wrap="square" rtlCol="0" anchor="ctr"/>
          <a:lstStyle/>
          <a:p>
            <a:pPr marL="0" indent="0">
              <a:buNone/>
            </a:pPr>
            <a:r>
              <a:rPr lang="en-US" sz="1350" i="1" dirty="0">
                <a:solidFill>
                  <a:srgbClr val="475569"/>
                </a:solidFill>
              </a:rPr>
              <a:t>Users can create credentials, then log in and access the client workflow.</a:t>
            </a:r>
            <a:endParaRPr lang="en-US" sz="1350" dirty="0"/>
          </a:p>
        </p:txBody>
      </p:sp>
      <p:sp>
        <p:nvSpPr>
          <p:cNvPr id="25" name="Slide Number Placeholder 0"/>
          <p:cNvSpPr>
            <a:spLocks noGrp="1"/>
          </p:cNvSpPr>
          <p:nvPr>
            <p:ph type="sldNum" sz="quarter" idx="4294967295"/>
          </p:nvPr>
        </p:nvSpPr>
        <p:spPr>
          <a:xfrm>
            <a:off x="11704320" y="6565392"/>
            <a:ext cx="274320" cy="164592"/>
          </a:xfrm>
          <a:prstGeom prst="rect">
            <a:avLst/>
          </a:prstGeom>
          <a:extLst>
            <a:ext uri="{C572A759-6A51-4108-AA02-DFA0A04FC94B}">
              <ma14:wrappingTextBoxFlag xmlns:ma14="http://schemas.microsoft.com/office/mac/drawingml/2011/main" xmlns="" val="0"/>
            </a:ext>
          </a:extLst>
        </p:spPr>
        <p:txBody>
          <a:bodyPr/>
          <a:lstStyle>
            <a:lvl1pPr>
              <a:defRPr sz="1000">
                <a:solidFill>
                  <a:srgbClr val="E2E8F0"/>
                </a:solidFill>
              </a:defRPr>
            </a:lvl1pPr>
          </a:lstStyle>
          <a:p>
            <a:pPr algn="l"/>
            <a:fld id="{F7021451-1387-4CA6-816F-3879F97B5CBC}" type="slidenum">
              <a:rPr lang="en-US" b="0"/>
              <a:t>3</a:t>
            </a:fld>
            <a:endParaRPr lang="en-US"/>
          </a:p>
        </p:txBody>
      </p:sp>
      <p:pic>
        <p:nvPicPr>
          <p:cNvPr id="21" name="Picture 20">
            <a:extLst>
              <a:ext uri="{FF2B5EF4-FFF2-40B4-BE49-F238E27FC236}">
                <a16:creationId xmlns:a16="http://schemas.microsoft.com/office/drawing/2014/main" id="{9D3BCCFF-4FFF-E295-9B38-EF26F3F69C89}"/>
              </a:ext>
            </a:extLst>
          </p:cNvPr>
          <p:cNvPicPr>
            <a:picLocks noChangeAspect="1"/>
          </p:cNvPicPr>
          <p:nvPr/>
        </p:nvPicPr>
        <p:blipFill>
          <a:blip r:embed="rId3"/>
          <a:stretch>
            <a:fillRect/>
          </a:stretch>
        </p:blipFill>
        <p:spPr>
          <a:xfrm>
            <a:off x="899160" y="2262043"/>
            <a:ext cx="5012355" cy="3385475"/>
          </a:xfrm>
          <a:prstGeom prst="rect">
            <a:avLst/>
          </a:prstGeom>
        </p:spPr>
      </p:pic>
      <p:pic>
        <p:nvPicPr>
          <p:cNvPr id="23" name="Picture 22">
            <a:extLst>
              <a:ext uri="{FF2B5EF4-FFF2-40B4-BE49-F238E27FC236}">
                <a16:creationId xmlns:a16="http://schemas.microsoft.com/office/drawing/2014/main" id="{5B053A1E-1960-FE44-2F81-0F9461ECEEFA}"/>
              </a:ext>
            </a:extLst>
          </p:cNvPr>
          <p:cNvPicPr>
            <a:picLocks noChangeAspect="1"/>
          </p:cNvPicPr>
          <p:nvPr/>
        </p:nvPicPr>
        <p:blipFill>
          <a:blip r:embed="rId4"/>
          <a:stretch>
            <a:fillRect/>
          </a:stretch>
        </p:blipFill>
        <p:spPr>
          <a:xfrm>
            <a:off x="6565391" y="2262043"/>
            <a:ext cx="4784397" cy="337980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658368"/>
            <a:ext cx="6858000" cy="384048"/>
          </a:xfrm>
          <a:prstGeom prst="rect">
            <a:avLst/>
          </a:prstGeom>
          <a:noFill/>
          <a:ln/>
        </p:spPr>
        <p:txBody>
          <a:bodyPr wrap="square" rtlCol="0" anchor="ctr"/>
          <a:lstStyle/>
          <a:p>
            <a:pPr marL="0" indent="0">
              <a:buNone/>
            </a:pPr>
            <a:r>
              <a:rPr lang="en-US" sz="2600" b="1" dirty="0">
                <a:solidFill>
                  <a:srgbClr val="0F172A"/>
                </a:solidFill>
                <a:latin typeface="Aptos Display" pitchFamily="34" charset="0"/>
                <a:ea typeface="Aptos Display" pitchFamily="34" charset="-122"/>
                <a:cs typeface="Aptos Display" pitchFamily="34" charset="-120"/>
              </a:rPr>
              <a:t>Operational workflow</a:t>
            </a:r>
            <a:endParaRPr lang="en-US" sz="2600" dirty="0"/>
          </a:p>
        </p:txBody>
      </p:sp>
      <p:sp>
        <p:nvSpPr>
          <p:cNvPr id="3" name="Text 1"/>
          <p:cNvSpPr/>
          <p:nvPr/>
        </p:nvSpPr>
        <p:spPr>
          <a:xfrm>
            <a:off x="530352" y="1060704"/>
            <a:ext cx="8046720" cy="256032"/>
          </a:xfrm>
          <a:prstGeom prst="rect">
            <a:avLst/>
          </a:prstGeom>
          <a:noFill/>
          <a:ln/>
        </p:spPr>
        <p:txBody>
          <a:bodyPr wrap="square" rtlCol="0" anchor="ctr"/>
          <a:lstStyle/>
          <a:p>
            <a:pPr marL="0" indent="0">
              <a:buNone/>
            </a:pPr>
            <a:r>
              <a:rPr lang="en-US" sz="1250" dirty="0">
                <a:solidFill>
                  <a:srgbClr val="475569"/>
                </a:solidFill>
              </a:rPr>
              <a:t>From CSV upload to report download</a:t>
            </a:r>
            <a:endParaRPr lang="en-US" sz="1250" dirty="0"/>
          </a:p>
        </p:txBody>
      </p:sp>
      <p:sp>
        <p:nvSpPr>
          <p:cNvPr id="4" name="Shape 2"/>
          <p:cNvSpPr/>
          <p:nvPr/>
        </p:nvSpPr>
        <p:spPr>
          <a:xfrm>
            <a:off x="685800" y="1417320"/>
            <a:ext cx="384048" cy="384048"/>
          </a:xfrm>
          <a:prstGeom prst="ellipse">
            <a:avLst/>
          </a:prstGeom>
          <a:solidFill>
            <a:srgbClr val="2563EB"/>
          </a:solidFill>
          <a:ln w="12700">
            <a:solidFill>
              <a:srgbClr val="2563EB"/>
            </a:solidFill>
            <a:prstDash val="solid"/>
          </a:ln>
        </p:spPr>
        <p:txBody>
          <a:bodyPr/>
          <a:lstStyle/>
          <a:p>
            <a:endParaRPr lang="en-US"/>
          </a:p>
        </p:txBody>
      </p:sp>
      <p:sp>
        <p:nvSpPr>
          <p:cNvPr id="5" name="Text 3"/>
          <p:cNvSpPr/>
          <p:nvPr/>
        </p:nvSpPr>
        <p:spPr>
          <a:xfrm>
            <a:off x="804672" y="1490472"/>
            <a:ext cx="146304" cy="146304"/>
          </a:xfrm>
          <a:prstGeom prst="rect">
            <a:avLst/>
          </a:prstGeom>
          <a:noFill/>
          <a:ln/>
        </p:spPr>
        <p:txBody>
          <a:bodyPr wrap="square" rtlCol="0" anchor="ctr"/>
          <a:lstStyle/>
          <a:p>
            <a:pPr marL="0" indent="0" algn="ctr">
              <a:buNone/>
            </a:pPr>
            <a:r>
              <a:rPr lang="en-US" sz="1600" b="1" dirty="0">
                <a:solidFill>
                  <a:srgbClr val="FFFFFF"/>
                </a:solidFill>
              </a:rPr>
              <a:t>1</a:t>
            </a:r>
            <a:endParaRPr lang="en-US" sz="1600" dirty="0"/>
          </a:p>
        </p:txBody>
      </p:sp>
      <p:sp>
        <p:nvSpPr>
          <p:cNvPr id="6" name="Text 4"/>
          <p:cNvSpPr/>
          <p:nvPr/>
        </p:nvSpPr>
        <p:spPr>
          <a:xfrm>
            <a:off x="502920" y="1892808"/>
            <a:ext cx="1307592" cy="219456"/>
          </a:xfrm>
          <a:prstGeom prst="rect">
            <a:avLst/>
          </a:prstGeom>
          <a:noFill/>
          <a:ln/>
        </p:spPr>
        <p:txBody>
          <a:bodyPr wrap="square" rtlCol="0" anchor="ctr"/>
          <a:lstStyle/>
          <a:p>
            <a:pPr marL="0" indent="0" algn="ctr">
              <a:buNone/>
            </a:pPr>
            <a:r>
              <a:rPr lang="en-US" sz="1400" b="1" dirty="0">
                <a:solidFill>
                  <a:srgbClr val="0F172A"/>
                </a:solidFill>
              </a:rPr>
              <a:t>Authenticate</a:t>
            </a:r>
            <a:endParaRPr lang="en-US" sz="1400" dirty="0"/>
          </a:p>
        </p:txBody>
      </p:sp>
      <p:sp>
        <p:nvSpPr>
          <p:cNvPr id="7" name="Shape 5"/>
          <p:cNvSpPr/>
          <p:nvPr/>
        </p:nvSpPr>
        <p:spPr>
          <a:xfrm>
            <a:off x="1307592" y="1463040"/>
            <a:ext cx="502920" cy="256032"/>
          </a:xfrm>
          <a:prstGeom prst="chevron">
            <a:avLst/>
          </a:prstGeom>
          <a:solidFill>
            <a:srgbClr val="F59E0B"/>
          </a:solidFill>
          <a:ln w="12700">
            <a:solidFill>
              <a:srgbClr val="F59E0B"/>
            </a:solidFill>
            <a:prstDash val="solid"/>
          </a:ln>
        </p:spPr>
        <p:txBody>
          <a:bodyPr/>
          <a:lstStyle/>
          <a:p>
            <a:endParaRPr lang="en-US"/>
          </a:p>
        </p:txBody>
      </p:sp>
      <p:sp>
        <p:nvSpPr>
          <p:cNvPr id="8" name="Shape 6"/>
          <p:cNvSpPr/>
          <p:nvPr/>
        </p:nvSpPr>
        <p:spPr>
          <a:xfrm>
            <a:off x="2926080" y="1417320"/>
            <a:ext cx="384048" cy="384048"/>
          </a:xfrm>
          <a:prstGeom prst="ellipse">
            <a:avLst/>
          </a:prstGeom>
          <a:solidFill>
            <a:srgbClr val="2563EB"/>
          </a:solidFill>
          <a:ln w="12700">
            <a:solidFill>
              <a:srgbClr val="2563EB"/>
            </a:solidFill>
            <a:prstDash val="solid"/>
          </a:ln>
        </p:spPr>
        <p:txBody>
          <a:bodyPr/>
          <a:lstStyle/>
          <a:p>
            <a:endParaRPr lang="en-US"/>
          </a:p>
        </p:txBody>
      </p:sp>
      <p:sp>
        <p:nvSpPr>
          <p:cNvPr id="9" name="Text 7"/>
          <p:cNvSpPr/>
          <p:nvPr/>
        </p:nvSpPr>
        <p:spPr>
          <a:xfrm>
            <a:off x="3044952" y="1490472"/>
            <a:ext cx="146304" cy="146304"/>
          </a:xfrm>
          <a:prstGeom prst="rect">
            <a:avLst/>
          </a:prstGeom>
          <a:noFill/>
          <a:ln/>
        </p:spPr>
        <p:txBody>
          <a:bodyPr wrap="square" rtlCol="0" anchor="ctr"/>
          <a:lstStyle/>
          <a:p>
            <a:pPr marL="0" indent="0" algn="ctr">
              <a:buNone/>
            </a:pPr>
            <a:r>
              <a:rPr lang="en-US" sz="1600" b="1" dirty="0">
                <a:solidFill>
                  <a:srgbClr val="FFFFFF"/>
                </a:solidFill>
              </a:rPr>
              <a:t>2</a:t>
            </a:r>
            <a:endParaRPr lang="en-US" sz="1600" dirty="0"/>
          </a:p>
        </p:txBody>
      </p:sp>
      <p:sp>
        <p:nvSpPr>
          <p:cNvPr id="10" name="Text 8"/>
          <p:cNvSpPr/>
          <p:nvPr/>
        </p:nvSpPr>
        <p:spPr>
          <a:xfrm>
            <a:off x="2743200" y="1892808"/>
            <a:ext cx="1621766" cy="219456"/>
          </a:xfrm>
          <a:prstGeom prst="rect">
            <a:avLst/>
          </a:prstGeom>
          <a:noFill/>
          <a:ln/>
        </p:spPr>
        <p:txBody>
          <a:bodyPr wrap="square" rtlCol="0" anchor="ctr"/>
          <a:lstStyle/>
          <a:p>
            <a:pPr marL="0" indent="0" algn="ctr">
              <a:buNone/>
            </a:pPr>
            <a:r>
              <a:rPr lang="en-US" sz="1400" b="1" dirty="0">
                <a:solidFill>
                  <a:srgbClr val="0F172A"/>
                </a:solidFill>
              </a:rPr>
              <a:t>Upload datasets</a:t>
            </a:r>
            <a:endParaRPr lang="en-US" sz="1400" dirty="0"/>
          </a:p>
        </p:txBody>
      </p:sp>
      <p:sp>
        <p:nvSpPr>
          <p:cNvPr id="11" name="Shape 9"/>
          <p:cNvSpPr/>
          <p:nvPr/>
        </p:nvSpPr>
        <p:spPr>
          <a:xfrm>
            <a:off x="3547872" y="1463040"/>
            <a:ext cx="502920" cy="256032"/>
          </a:xfrm>
          <a:prstGeom prst="chevron">
            <a:avLst/>
          </a:prstGeom>
          <a:solidFill>
            <a:srgbClr val="F59E0B"/>
          </a:solidFill>
          <a:ln w="12700">
            <a:solidFill>
              <a:srgbClr val="F59E0B"/>
            </a:solidFill>
            <a:prstDash val="solid"/>
          </a:ln>
        </p:spPr>
        <p:txBody>
          <a:bodyPr/>
          <a:lstStyle/>
          <a:p>
            <a:endParaRPr lang="en-US"/>
          </a:p>
        </p:txBody>
      </p:sp>
      <p:sp>
        <p:nvSpPr>
          <p:cNvPr id="12" name="Shape 10"/>
          <p:cNvSpPr/>
          <p:nvPr/>
        </p:nvSpPr>
        <p:spPr>
          <a:xfrm>
            <a:off x="5166360" y="1417320"/>
            <a:ext cx="384048" cy="384048"/>
          </a:xfrm>
          <a:prstGeom prst="ellipse">
            <a:avLst/>
          </a:prstGeom>
          <a:solidFill>
            <a:srgbClr val="2563EB"/>
          </a:solidFill>
          <a:ln w="12700">
            <a:solidFill>
              <a:srgbClr val="2563EB"/>
            </a:solidFill>
            <a:prstDash val="solid"/>
          </a:ln>
        </p:spPr>
        <p:txBody>
          <a:bodyPr/>
          <a:lstStyle/>
          <a:p>
            <a:endParaRPr lang="en-US"/>
          </a:p>
        </p:txBody>
      </p:sp>
      <p:sp>
        <p:nvSpPr>
          <p:cNvPr id="13" name="Text 11"/>
          <p:cNvSpPr/>
          <p:nvPr/>
        </p:nvSpPr>
        <p:spPr>
          <a:xfrm>
            <a:off x="5285232" y="1490472"/>
            <a:ext cx="146304" cy="146304"/>
          </a:xfrm>
          <a:prstGeom prst="rect">
            <a:avLst/>
          </a:prstGeom>
          <a:noFill/>
          <a:ln/>
        </p:spPr>
        <p:txBody>
          <a:bodyPr wrap="square" rtlCol="0" anchor="ctr"/>
          <a:lstStyle/>
          <a:p>
            <a:pPr marL="0" indent="0" algn="ctr">
              <a:buNone/>
            </a:pPr>
            <a:r>
              <a:rPr lang="en-US" sz="1600" b="1" dirty="0">
                <a:solidFill>
                  <a:srgbClr val="FFFFFF"/>
                </a:solidFill>
              </a:rPr>
              <a:t>3</a:t>
            </a:r>
            <a:endParaRPr lang="en-US" sz="1600" dirty="0"/>
          </a:p>
        </p:txBody>
      </p:sp>
      <p:sp>
        <p:nvSpPr>
          <p:cNvPr id="14" name="Text 12"/>
          <p:cNvSpPr/>
          <p:nvPr/>
        </p:nvSpPr>
        <p:spPr>
          <a:xfrm>
            <a:off x="4837368" y="1865376"/>
            <a:ext cx="1796883" cy="274320"/>
          </a:xfrm>
          <a:prstGeom prst="rect">
            <a:avLst/>
          </a:prstGeom>
          <a:noFill/>
          <a:ln/>
        </p:spPr>
        <p:txBody>
          <a:bodyPr wrap="square" rtlCol="0" anchor="ctr"/>
          <a:lstStyle/>
          <a:p>
            <a:pPr marL="0" indent="0" algn="ctr">
              <a:buNone/>
            </a:pPr>
            <a:r>
              <a:rPr lang="en-US" sz="1400" b="1" dirty="0">
                <a:solidFill>
                  <a:srgbClr val="0F172A"/>
                </a:solidFill>
              </a:rPr>
              <a:t>Load MySQL tables</a:t>
            </a:r>
            <a:endParaRPr lang="en-US" sz="1400" dirty="0"/>
          </a:p>
        </p:txBody>
      </p:sp>
      <p:sp>
        <p:nvSpPr>
          <p:cNvPr id="15" name="Shape 13"/>
          <p:cNvSpPr/>
          <p:nvPr/>
        </p:nvSpPr>
        <p:spPr>
          <a:xfrm>
            <a:off x="5788152" y="1463040"/>
            <a:ext cx="502920" cy="256032"/>
          </a:xfrm>
          <a:prstGeom prst="chevron">
            <a:avLst/>
          </a:prstGeom>
          <a:solidFill>
            <a:srgbClr val="F59E0B"/>
          </a:solidFill>
          <a:ln w="12700">
            <a:solidFill>
              <a:srgbClr val="F59E0B"/>
            </a:solidFill>
            <a:prstDash val="solid"/>
          </a:ln>
        </p:spPr>
        <p:txBody>
          <a:bodyPr/>
          <a:lstStyle/>
          <a:p>
            <a:endParaRPr lang="en-US"/>
          </a:p>
        </p:txBody>
      </p:sp>
      <p:sp>
        <p:nvSpPr>
          <p:cNvPr id="16" name="Shape 14"/>
          <p:cNvSpPr/>
          <p:nvPr/>
        </p:nvSpPr>
        <p:spPr>
          <a:xfrm>
            <a:off x="7406640" y="1417320"/>
            <a:ext cx="384048" cy="384048"/>
          </a:xfrm>
          <a:prstGeom prst="ellipse">
            <a:avLst/>
          </a:prstGeom>
          <a:solidFill>
            <a:srgbClr val="2563EB"/>
          </a:solidFill>
          <a:ln w="12700">
            <a:solidFill>
              <a:srgbClr val="2563EB"/>
            </a:solidFill>
            <a:prstDash val="solid"/>
          </a:ln>
        </p:spPr>
        <p:txBody>
          <a:bodyPr/>
          <a:lstStyle/>
          <a:p>
            <a:endParaRPr lang="en-US"/>
          </a:p>
        </p:txBody>
      </p:sp>
      <p:sp>
        <p:nvSpPr>
          <p:cNvPr id="17" name="Text 15"/>
          <p:cNvSpPr/>
          <p:nvPr/>
        </p:nvSpPr>
        <p:spPr>
          <a:xfrm>
            <a:off x="7525512" y="1490472"/>
            <a:ext cx="146304" cy="146304"/>
          </a:xfrm>
          <a:prstGeom prst="rect">
            <a:avLst/>
          </a:prstGeom>
          <a:noFill/>
          <a:ln/>
        </p:spPr>
        <p:txBody>
          <a:bodyPr wrap="square" rtlCol="0" anchor="ctr"/>
          <a:lstStyle/>
          <a:p>
            <a:pPr marL="0" indent="0" algn="ctr">
              <a:buNone/>
            </a:pPr>
            <a:r>
              <a:rPr lang="en-US" sz="1600" b="1" dirty="0">
                <a:solidFill>
                  <a:srgbClr val="FFFFFF"/>
                </a:solidFill>
              </a:rPr>
              <a:t>4</a:t>
            </a:r>
            <a:endParaRPr lang="en-US" sz="1600" dirty="0"/>
          </a:p>
        </p:txBody>
      </p:sp>
      <p:sp>
        <p:nvSpPr>
          <p:cNvPr id="18" name="Text 16"/>
          <p:cNvSpPr/>
          <p:nvPr/>
        </p:nvSpPr>
        <p:spPr>
          <a:xfrm>
            <a:off x="6989145" y="1901952"/>
            <a:ext cx="1949115" cy="210312"/>
          </a:xfrm>
          <a:prstGeom prst="rect">
            <a:avLst/>
          </a:prstGeom>
          <a:noFill/>
          <a:ln/>
        </p:spPr>
        <p:txBody>
          <a:bodyPr wrap="square" rtlCol="0" anchor="ctr"/>
          <a:lstStyle/>
          <a:p>
            <a:pPr marL="0" indent="0" algn="ctr">
              <a:buNone/>
            </a:pPr>
            <a:r>
              <a:rPr lang="en-US" sz="1400" b="1" dirty="0">
                <a:solidFill>
                  <a:srgbClr val="0F172A"/>
                </a:solidFill>
              </a:rPr>
              <a:t>Run Python analysis</a:t>
            </a:r>
            <a:endParaRPr lang="en-US" sz="1400" dirty="0"/>
          </a:p>
        </p:txBody>
      </p:sp>
      <p:sp>
        <p:nvSpPr>
          <p:cNvPr id="19" name="Shape 17"/>
          <p:cNvSpPr/>
          <p:nvPr/>
        </p:nvSpPr>
        <p:spPr>
          <a:xfrm>
            <a:off x="8028432" y="1463040"/>
            <a:ext cx="502920" cy="256032"/>
          </a:xfrm>
          <a:prstGeom prst="chevron">
            <a:avLst/>
          </a:prstGeom>
          <a:solidFill>
            <a:srgbClr val="F59E0B"/>
          </a:solidFill>
          <a:ln w="12700">
            <a:solidFill>
              <a:srgbClr val="F59E0B"/>
            </a:solidFill>
            <a:prstDash val="solid"/>
          </a:ln>
        </p:spPr>
        <p:txBody>
          <a:bodyPr/>
          <a:lstStyle/>
          <a:p>
            <a:endParaRPr lang="en-US"/>
          </a:p>
        </p:txBody>
      </p:sp>
      <p:sp>
        <p:nvSpPr>
          <p:cNvPr id="20" name="Shape 18"/>
          <p:cNvSpPr/>
          <p:nvPr/>
        </p:nvSpPr>
        <p:spPr>
          <a:xfrm>
            <a:off x="9646920" y="1417320"/>
            <a:ext cx="384048" cy="384048"/>
          </a:xfrm>
          <a:prstGeom prst="ellipse">
            <a:avLst/>
          </a:prstGeom>
          <a:solidFill>
            <a:srgbClr val="16A34A"/>
          </a:solidFill>
          <a:ln w="12700">
            <a:solidFill>
              <a:srgbClr val="16A34A"/>
            </a:solidFill>
            <a:prstDash val="solid"/>
          </a:ln>
        </p:spPr>
        <p:txBody>
          <a:bodyPr/>
          <a:lstStyle/>
          <a:p>
            <a:endParaRPr lang="en-US"/>
          </a:p>
        </p:txBody>
      </p:sp>
      <p:sp>
        <p:nvSpPr>
          <p:cNvPr id="21" name="Text 19"/>
          <p:cNvSpPr/>
          <p:nvPr/>
        </p:nvSpPr>
        <p:spPr>
          <a:xfrm>
            <a:off x="9765792" y="1490472"/>
            <a:ext cx="146304" cy="146304"/>
          </a:xfrm>
          <a:prstGeom prst="rect">
            <a:avLst/>
          </a:prstGeom>
          <a:noFill/>
          <a:ln/>
        </p:spPr>
        <p:txBody>
          <a:bodyPr wrap="square" rtlCol="0" anchor="ctr"/>
          <a:lstStyle/>
          <a:p>
            <a:pPr marL="0" indent="0" algn="ctr">
              <a:buNone/>
            </a:pPr>
            <a:r>
              <a:rPr lang="en-US" sz="1600" b="1" dirty="0">
                <a:solidFill>
                  <a:srgbClr val="FFFFFF"/>
                </a:solidFill>
              </a:rPr>
              <a:t>5</a:t>
            </a:r>
            <a:endParaRPr lang="en-US" sz="1600" dirty="0"/>
          </a:p>
        </p:txBody>
      </p:sp>
      <p:sp>
        <p:nvSpPr>
          <p:cNvPr id="22" name="Text 20"/>
          <p:cNvSpPr/>
          <p:nvPr/>
        </p:nvSpPr>
        <p:spPr>
          <a:xfrm>
            <a:off x="9464039" y="1892808"/>
            <a:ext cx="1569145" cy="219456"/>
          </a:xfrm>
          <a:prstGeom prst="rect">
            <a:avLst/>
          </a:prstGeom>
          <a:noFill/>
          <a:ln/>
        </p:spPr>
        <p:txBody>
          <a:bodyPr wrap="square" rtlCol="0" anchor="ctr"/>
          <a:lstStyle/>
          <a:p>
            <a:pPr marL="0" indent="0" algn="ctr">
              <a:buNone/>
            </a:pPr>
            <a:r>
              <a:rPr lang="en-US" sz="1400" b="1" dirty="0">
                <a:solidFill>
                  <a:srgbClr val="0F172A"/>
                </a:solidFill>
              </a:rPr>
              <a:t>Download report</a:t>
            </a:r>
            <a:endParaRPr lang="en-US" sz="1400" dirty="0"/>
          </a:p>
        </p:txBody>
      </p:sp>
      <p:sp>
        <p:nvSpPr>
          <p:cNvPr id="23" name="Shape 21"/>
          <p:cNvSpPr/>
          <p:nvPr/>
        </p:nvSpPr>
        <p:spPr>
          <a:xfrm>
            <a:off x="621792" y="2377440"/>
            <a:ext cx="5474208" cy="3657600"/>
          </a:xfrm>
          <a:prstGeom prst="roundRect">
            <a:avLst>
              <a:gd name="adj" fmla="val 1928"/>
            </a:avLst>
          </a:prstGeom>
          <a:solidFill>
            <a:srgbClr val="FFFFFF"/>
          </a:solidFill>
          <a:ln w="12700">
            <a:solidFill>
              <a:srgbClr val="CBD5E1"/>
            </a:solidFill>
            <a:prstDash val="solid"/>
          </a:ln>
          <a:effectLst>
            <a:outerShdw blurRad="19050" dist="15240" dir="2700000" algn="bl" rotWithShape="0">
              <a:srgbClr val="000000">
                <a:alpha val="16000"/>
              </a:srgbClr>
            </a:outerShdw>
          </a:effectLst>
        </p:spPr>
        <p:txBody>
          <a:bodyPr/>
          <a:lstStyle/>
          <a:p>
            <a:endParaRPr lang="en-US"/>
          </a:p>
        </p:txBody>
      </p:sp>
      <p:sp>
        <p:nvSpPr>
          <p:cNvPr id="24" name="Text 22"/>
          <p:cNvSpPr/>
          <p:nvPr/>
        </p:nvSpPr>
        <p:spPr>
          <a:xfrm>
            <a:off x="877824" y="2450592"/>
            <a:ext cx="1828800" cy="228600"/>
          </a:xfrm>
          <a:prstGeom prst="rect">
            <a:avLst/>
          </a:prstGeom>
          <a:noFill/>
          <a:ln/>
        </p:spPr>
        <p:txBody>
          <a:bodyPr wrap="square" rtlCol="0" anchor="ctr"/>
          <a:lstStyle/>
          <a:p>
            <a:pPr marL="0" indent="0">
              <a:buNone/>
            </a:pPr>
            <a:r>
              <a:rPr lang="en-US" sz="1900" b="1" dirty="0">
                <a:solidFill>
                  <a:srgbClr val="0F172A"/>
                </a:solidFill>
              </a:rPr>
              <a:t>Upload stage</a:t>
            </a:r>
            <a:endParaRPr lang="en-US" sz="1900" dirty="0"/>
          </a:p>
        </p:txBody>
      </p:sp>
      <p:sp>
        <p:nvSpPr>
          <p:cNvPr id="26" name="Shape 23"/>
          <p:cNvSpPr/>
          <p:nvPr/>
        </p:nvSpPr>
        <p:spPr>
          <a:xfrm>
            <a:off x="6309360" y="2377440"/>
            <a:ext cx="5257800" cy="3657600"/>
          </a:xfrm>
          <a:prstGeom prst="roundRect">
            <a:avLst>
              <a:gd name="adj" fmla="val 1928"/>
            </a:avLst>
          </a:prstGeom>
          <a:solidFill>
            <a:srgbClr val="FFFFFF"/>
          </a:solidFill>
          <a:ln w="12700">
            <a:solidFill>
              <a:srgbClr val="CBD5E1"/>
            </a:solidFill>
            <a:prstDash val="solid"/>
          </a:ln>
          <a:effectLst>
            <a:outerShdw blurRad="19050" dist="15240" dir="2700000" algn="bl" rotWithShape="0">
              <a:srgbClr val="000000">
                <a:alpha val="16000"/>
              </a:srgbClr>
            </a:outerShdw>
          </a:effectLst>
        </p:spPr>
        <p:txBody>
          <a:bodyPr/>
          <a:lstStyle/>
          <a:p>
            <a:endParaRPr lang="en-US"/>
          </a:p>
        </p:txBody>
      </p:sp>
      <p:sp>
        <p:nvSpPr>
          <p:cNvPr id="27" name="Text 24"/>
          <p:cNvSpPr/>
          <p:nvPr/>
        </p:nvSpPr>
        <p:spPr>
          <a:xfrm>
            <a:off x="6565392" y="2450592"/>
            <a:ext cx="2490376" cy="228600"/>
          </a:xfrm>
          <a:prstGeom prst="rect">
            <a:avLst/>
          </a:prstGeom>
          <a:noFill/>
          <a:ln/>
        </p:spPr>
        <p:txBody>
          <a:bodyPr wrap="square" rtlCol="0" anchor="ctr"/>
          <a:lstStyle/>
          <a:p>
            <a:pPr marL="0" indent="0">
              <a:buNone/>
            </a:pPr>
            <a:r>
              <a:rPr lang="en-US" sz="1900" b="1" dirty="0">
                <a:solidFill>
                  <a:srgbClr val="0F172A"/>
                </a:solidFill>
              </a:rPr>
              <a:t>Client success state</a:t>
            </a:r>
            <a:endParaRPr lang="en-US" sz="1900" dirty="0"/>
          </a:p>
        </p:txBody>
      </p:sp>
      <p:pic>
        <p:nvPicPr>
          <p:cNvPr id="28" name="Image 1" descr="/mnt/data/Screenshot 2026-03-30 230322.png"/>
          <p:cNvPicPr>
            <a:picLocks noChangeAspect="1"/>
          </p:cNvPicPr>
          <p:nvPr/>
        </p:nvPicPr>
        <p:blipFill>
          <a:blip r:embed="rId3"/>
          <a:stretch>
            <a:fillRect/>
          </a:stretch>
        </p:blipFill>
        <p:spPr>
          <a:xfrm>
            <a:off x="6625779" y="2780496"/>
            <a:ext cx="4529902" cy="2888783"/>
          </a:xfrm>
          <a:prstGeom prst="rect">
            <a:avLst/>
          </a:prstGeom>
        </p:spPr>
      </p:pic>
      <p:sp>
        <p:nvSpPr>
          <p:cNvPr id="29" name="Text 25"/>
          <p:cNvSpPr/>
          <p:nvPr/>
        </p:nvSpPr>
        <p:spPr>
          <a:xfrm>
            <a:off x="6583680" y="5715000"/>
            <a:ext cx="4572000" cy="219456"/>
          </a:xfrm>
          <a:prstGeom prst="rect">
            <a:avLst/>
          </a:prstGeom>
          <a:noFill/>
          <a:ln/>
        </p:spPr>
        <p:txBody>
          <a:bodyPr wrap="square" rtlCol="0" anchor="ctr"/>
          <a:lstStyle/>
          <a:p>
            <a:pPr marL="0" indent="0">
              <a:buNone/>
            </a:pPr>
            <a:r>
              <a:rPr lang="en-US" sz="1350" i="1" dirty="0">
                <a:solidFill>
                  <a:srgbClr val="475569"/>
                </a:solidFill>
              </a:rPr>
              <a:t>All five datasets loaded and the report path returned to the client.</a:t>
            </a:r>
            <a:endParaRPr lang="en-US" sz="1350" dirty="0"/>
          </a:p>
        </p:txBody>
      </p:sp>
      <p:sp>
        <p:nvSpPr>
          <p:cNvPr id="30" name="Slide Number Placeholder 0"/>
          <p:cNvSpPr>
            <a:spLocks noGrp="1"/>
          </p:cNvSpPr>
          <p:nvPr>
            <p:ph type="sldNum" sz="quarter" idx="4294967295"/>
          </p:nvPr>
        </p:nvSpPr>
        <p:spPr>
          <a:xfrm>
            <a:off x="11704320" y="6565392"/>
            <a:ext cx="274320" cy="164592"/>
          </a:xfrm>
          <a:prstGeom prst="rect">
            <a:avLst/>
          </a:prstGeom>
          <a:extLst>
            <a:ext uri="{C572A759-6A51-4108-AA02-DFA0A04FC94B}">
              <ma14:wrappingTextBoxFlag xmlns:ma14="http://schemas.microsoft.com/office/mac/drawingml/2011/main" xmlns="" val="0"/>
            </a:ext>
          </a:extLst>
        </p:spPr>
        <p:txBody>
          <a:bodyPr/>
          <a:lstStyle>
            <a:lvl1pPr>
              <a:defRPr sz="1000">
                <a:solidFill>
                  <a:srgbClr val="E2E8F0"/>
                </a:solidFill>
              </a:defRPr>
            </a:lvl1pPr>
          </a:lstStyle>
          <a:p>
            <a:pPr algn="l"/>
            <a:fld id="{F7021451-1387-4CA6-816F-3879F97B5CBC}" type="slidenum">
              <a:rPr lang="en-US" b="0"/>
              <a:t>4</a:t>
            </a:fld>
            <a:endParaRPr lang="en-US"/>
          </a:p>
        </p:txBody>
      </p:sp>
      <p:pic>
        <p:nvPicPr>
          <p:cNvPr id="32" name="Picture 31">
            <a:extLst>
              <a:ext uri="{FF2B5EF4-FFF2-40B4-BE49-F238E27FC236}">
                <a16:creationId xmlns:a16="http://schemas.microsoft.com/office/drawing/2014/main" id="{E3574E1D-4949-B789-2BC0-EF157376B535}"/>
              </a:ext>
            </a:extLst>
          </p:cNvPr>
          <p:cNvPicPr>
            <a:picLocks noChangeAspect="1"/>
          </p:cNvPicPr>
          <p:nvPr/>
        </p:nvPicPr>
        <p:blipFill>
          <a:blip r:embed="rId4"/>
          <a:stretch>
            <a:fillRect/>
          </a:stretch>
        </p:blipFill>
        <p:spPr>
          <a:xfrm>
            <a:off x="1036319" y="2780495"/>
            <a:ext cx="4751833" cy="288878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658368"/>
            <a:ext cx="6858000" cy="384048"/>
          </a:xfrm>
          <a:prstGeom prst="rect">
            <a:avLst/>
          </a:prstGeom>
          <a:noFill/>
          <a:ln/>
        </p:spPr>
        <p:txBody>
          <a:bodyPr wrap="square" rtlCol="0" anchor="ctr"/>
          <a:lstStyle/>
          <a:p>
            <a:pPr marL="0" indent="0">
              <a:buNone/>
            </a:pPr>
            <a:r>
              <a:rPr lang="en-US" sz="2600" b="1" dirty="0">
                <a:solidFill>
                  <a:srgbClr val="0F172A"/>
                </a:solidFill>
                <a:latin typeface="Aptos Display" pitchFamily="34" charset="0"/>
                <a:ea typeface="Aptos Display" pitchFamily="34" charset="-122"/>
                <a:cs typeface="Aptos Display" pitchFamily="34" charset="-120"/>
              </a:rPr>
              <a:t>Key analytics findings</a:t>
            </a:r>
            <a:endParaRPr lang="en-US" sz="2600" dirty="0"/>
          </a:p>
        </p:txBody>
      </p:sp>
      <p:sp>
        <p:nvSpPr>
          <p:cNvPr id="3" name="Text 1"/>
          <p:cNvSpPr/>
          <p:nvPr/>
        </p:nvSpPr>
        <p:spPr>
          <a:xfrm>
            <a:off x="530352" y="1060704"/>
            <a:ext cx="8046720" cy="256032"/>
          </a:xfrm>
          <a:prstGeom prst="rect">
            <a:avLst/>
          </a:prstGeom>
          <a:noFill/>
          <a:ln/>
        </p:spPr>
        <p:txBody>
          <a:bodyPr wrap="square" rtlCol="0" anchor="ctr"/>
          <a:lstStyle/>
          <a:p>
            <a:pPr marL="0" indent="0">
              <a:buNone/>
            </a:pPr>
            <a:r>
              <a:rPr lang="en-US" sz="1250" dirty="0">
                <a:solidFill>
                  <a:srgbClr val="475569"/>
                </a:solidFill>
              </a:rPr>
              <a:t>Summary metrics pulled from the final PDF report</a:t>
            </a:r>
            <a:endParaRPr lang="en-US" sz="1250" dirty="0"/>
          </a:p>
        </p:txBody>
      </p:sp>
      <p:sp>
        <p:nvSpPr>
          <p:cNvPr id="4" name="Shape 2"/>
          <p:cNvSpPr/>
          <p:nvPr/>
        </p:nvSpPr>
        <p:spPr>
          <a:xfrm>
            <a:off x="804672" y="1600200"/>
            <a:ext cx="3218688" cy="1325880"/>
          </a:xfrm>
          <a:prstGeom prst="roundRect">
            <a:avLst>
              <a:gd name="adj" fmla="val 5517"/>
            </a:avLst>
          </a:prstGeom>
          <a:solidFill>
            <a:srgbClr val="F8FAFC"/>
          </a:solidFill>
          <a:ln w="15240">
            <a:solidFill>
              <a:srgbClr val="CBD5E1"/>
            </a:solidFill>
            <a:prstDash val="solid"/>
          </a:ln>
          <a:effectLst>
            <a:outerShdw blurRad="10160" dist="7620" dir="2700000" algn="bl" rotWithShape="0">
              <a:srgbClr val="000000">
                <a:alpha val="10000"/>
              </a:srgbClr>
            </a:outerShdw>
          </a:effectLst>
        </p:spPr>
        <p:txBody>
          <a:bodyPr/>
          <a:lstStyle/>
          <a:p>
            <a:endParaRPr lang="en-US"/>
          </a:p>
        </p:txBody>
      </p:sp>
      <p:sp>
        <p:nvSpPr>
          <p:cNvPr id="5" name="Text 3"/>
          <p:cNvSpPr/>
          <p:nvPr/>
        </p:nvSpPr>
        <p:spPr>
          <a:xfrm>
            <a:off x="950976" y="1746504"/>
            <a:ext cx="2834640" cy="256032"/>
          </a:xfrm>
          <a:prstGeom prst="rect">
            <a:avLst/>
          </a:prstGeom>
          <a:noFill/>
          <a:ln/>
        </p:spPr>
        <p:txBody>
          <a:bodyPr wrap="square" rtlCol="0" anchor="ctr"/>
          <a:lstStyle/>
          <a:p>
            <a:pPr marL="0" indent="0" algn="ctr">
              <a:buNone/>
            </a:pPr>
            <a:r>
              <a:rPr lang="en-US" sz="1500" b="1" dirty="0">
                <a:solidFill>
                  <a:srgbClr val="475569"/>
                </a:solidFill>
              </a:rPr>
              <a:t>Total flight cancellations</a:t>
            </a:r>
            <a:endParaRPr lang="en-US" sz="1500" dirty="0"/>
          </a:p>
        </p:txBody>
      </p:sp>
      <p:sp>
        <p:nvSpPr>
          <p:cNvPr id="6" name="Text 4"/>
          <p:cNvSpPr/>
          <p:nvPr/>
        </p:nvSpPr>
        <p:spPr>
          <a:xfrm>
            <a:off x="941832" y="2130552"/>
            <a:ext cx="2852928" cy="502920"/>
          </a:xfrm>
          <a:prstGeom prst="rect">
            <a:avLst/>
          </a:prstGeom>
          <a:noFill/>
          <a:ln/>
        </p:spPr>
        <p:txBody>
          <a:bodyPr wrap="square" rtlCol="0" anchor="ctr"/>
          <a:lstStyle/>
          <a:p>
            <a:pPr marL="0" indent="0" algn="ctr">
              <a:buNone/>
            </a:pPr>
            <a:r>
              <a:rPr lang="en-US" sz="2200" b="1" dirty="0">
                <a:solidFill>
                  <a:srgbClr val="0F172A"/>
                </a:solidFill>
              </a:rPr>
              <a:t>50</a:t>
            </a:r>
            <a:endParaRPr lang="en-US" sz="2200" dirty="0"/>
          </a:p>
        </p:txBody>
      </p:sp>
      <p:sp>
        <p:nvSpPr>
          <p:cNvPr id="7" name="Shape 5"/>
          <p:cNvSpPr/>
          <p:nvPr/>
        </p:nvSpPr>
        <p:spPr>
          <a:xfrm>
            <a:off x="4507992" y="1600200"/>
            <a:ext cx="3218688" cy="1325880"/>
          </a:xfrm>
          <a:prstGeom prst="roundRect">
            <a:avLst>
              <a:gd name="adj" fmla="val 5517"/>
            </a:avLst>
          </a:prstGeom>
          <a:solidFill>
            <a:srgbClr val="F8FAFC"/>
          </a:solidFill>
          <a:ln w="15240">
            <a:solidFill>
              <a:srgbClr val="CBD5E1"/>
            </a:solidFill>
            <a:prstDash val="solid"/>
          </a:ln>
          <a:effectLst>
            <a:outerShdw blurRad="10160" dist="7620" dir="2700000" algn="bl" rotWithShape="0">
              <a:srgbClr val="000000">
                <a:alpha val="10000"/>
              </a:srgbClr>
            </a:outerShdw>
          </a:effectLst>
        </p:spPr>
        <p:txBody>
          <a:bodyPr/>
          <a:lstStyle/>
          <a:p>
            <a:endParaRPr lang="en-US"/>
          </a:p>
        </p:txBody>
      </p:sp>
      <p:sp>
        <p:nvSpPr>
          <p:cNvPr id="8" name="Text 6"/>
          <p:cNvSpPr/>
          <p:nvPr/>
        </p:nvSpPr>
        <p:spPr>
          <a:xfrm>
            <a:off x="4654296" y="1746504"/>
            <a:ext cx="2834640" cy="256032"/>
          </a:xfrm>
          <a:prstGeom prst="rect">
            <a:avLst/>
          </a:prstGeom>
          <a:noFill/>
          <a:ln/>
        </p:spPr>
        <p:txBody>
          <a:bodyPr wrap="square" rtlCol="0" anchor="ctr"/>
          <a:lstStyle/>
          <a:p>
            <a:pPr marL="0" indent="0" algn="ctr">
              <a:buNone/>
            </a:pPr>
            <a:r>
              <a:rPr lang="en-US" sz="1500" b="1" dirty="0">
                <a:solidFill>
                  <a:srgbClr val="475569"/>
                </a:solidFill>
              </a:rPr>
              <a:t>Top airline by cancellations</a:t>
            </a:r>
            <a:endParaRPr lang="en-US" sz="1500" dirty="0"/>
          </a:p>
        </p:txBody>
      </p:sp>
      <p:sp>
        <p:nvSpPr>
          <p:cNvPr id="9" name="Text 7"/>
          <p:cNvSpPr/>
          <p:nvPr/>
        </p:nvSpPr>
        <p:spPr>
          <a:xfrm>
            <a:off x="4645152" y="2130552"/>
            <a:ext cx="2852928" cy="502920"/>
          </a:xfrm>
          <a:prstGeom prst="rect">
            <a:avLst/>
          </a:prstGeom>
          <a:noFill/>
          <a:ln/>
        </p:spPr>
        <p:txBody>
          <a:bodyPr wrap="square" rtlCol="0" anchor="ctr"/>
          <a:lstStyle/>
          <a:p>
            <a:pPr marL="0" indent="0" algn="ctr">
              <a:buNone/>
            </a:pPr>
            <a:r>
              <a:rPr lang="en-US" sz="2200" b="1" dirty="0">
                <a:solidFill>
                  <a:srgbClr val="0F172A"/>
                </a:solidFill>
              </a:rPr>
              <a:t>Emirates (6)</a:t>
            </a:r>
            <a:endParaRPr lang="en-US" sz="2200" dirty="0"/>
          </a:p>
        </p:txBody>
      </p:sp>
      <p:sp>
        <p:nvSpPr>
          <p:cNvPr id="10" name="Shape 8"/>
          <p:cNvSpPr/>
          <p:nvPr/>
        </p:nvSpPr>
        <p:spPr>
          <a:xfrm>
            <a:off x="8211312" y="1600200"/>
            <a:ext cx="3218688" cy="1325880"/>
          </a:xfrm>
          <a:prstGeom prst="roundRect">
            <a:avLst>
              <a:gd name="adj" fmla="val 5517"/>
            </a:avLst>
          </a:prstGeom>
          <a:solidFill>
            <a:srgbClr val="F8FAFC"/>
          </a:solidFill>
          <a:ln w="15240">
            <a:solidFill>
              <a:srgbClr val="16A34A"/>
            </a:solidFill>
            <a:prstDash val="solid"/>
          </a:ln>
          <a:effectLst>
            <a:outerShdw blurRad="10160" dist="7620" dir="2700000" algn="bl" rotWithShape="0">
              <a:srgbClr val="000000">
                <a:alpha val="10000"/>
              </a:srgbClr>
            </a:outerShdw>
          </a:effectLst>
        </p:spPr>
        <p:txBody>
          <a:bodyPr/>
          <a:lstStyle/>
          <a:p>
            <a:endParaRPr lang="en-US"/>
          </a:p>
        </p:txBody>
      </p:sp>
      <p:sp>
        <p:nvSpPr>
          <p:cNvPr id="11" name="Text 9"/>
          <p:cNvSpPr/>
          <p:nvPr/>
        </p:nvSpPr>
        <p:spPr>
          <a:xfrm>
            <a:off x="8357616" y="1746504"/>
            <a:ext cx="2834640" cy="256032"/>
          </a:xfrm>
          <a:prstGeom prst="rect">
            <a:avLst/>
          </a:prstGeom>
          <a:noFill/>
          <a:ln/>
        </p:spPr>
        <p:txBody>
          <a:bodyPr wrap="square" rtlCol="0" anchor="ctr"/>
          <a:lstStyle/>
          <a:p>
            <a:pPr marL="0" indent="0" algn="ctr">
              <a:buNone/>
            </a:pPr>
            <a:r>
              <a:rPr lang="en-US" sz="1500" b="1" dirty="0">
                <a:solidFill>
                  <a:srgbClr val="475569"/>
                </a:solidFill>
              </a:rPr>
              <a:t>Top airport by cancellations</a:t>
            </a:r>
            <a:endParaRPr lang="en-US" sz="1500" dirty="0"/>
          </a:p>
        </p:txBody>
      </p:sp>
      <p:sp>
        <p:nvSpPr>
          <p:cNvPr id="12" name="Text 10"/>
          <p:cNvSpPr/>
          <p:nvPr/>
        </p:nvSpPr>
        <p:spPr>
          <a:xfrm>
            <a:off x="8348472" y="2130552"/>
            <a:ext cx="2852928" cy="502920"/>
          </a:xfrm>
          <a:prstGeom prst="rect">
            <a:avLst/>
          </a:prstGeom>
          <a:noFill/>
          <a:ln/>
        </p:spPr>
        <p:txBody>
          <a:bodyPr wrap="square" rtlCol="0" anchor="ctr"/>
          <a:lstStyle/>
          <a:p>
            <a:pPr marL="0" indent="0" algn="ctr">
              <a:buNone/>
            </a:pPr>
            <a:r>
              <a:rPr lang="en-US" sz="2200" b="1" dirty="0">
                <a:solidFill>
                  <a:srgbClr val="0F172A"/>
                </a:solidFill>
              </a:rPr>
              <a:t>Dubai International</a:t>
            </a:r>
            <a:endParaRPr lang="en-US" sz="2200" dirty="0"/>
          </a:p>
          <a:p>
            <a:pPr marL="0" indent="0" algn="ctr">
              <a:buNone/>
            </a:pPr>
            <a:r>
              <a:rPr lang="en-US" sz="2200" b="1" dirty="0">
                <a:solidFill>
                  <a:srgbClr val="0F172A"/>
                </a:solidFill>
              </a:rPr>
              <a:t>(DXB) (10)</a:t>
            </a:r>
            <a:endParaRPr lang="en-US" sz="2200" dirty="0"/>
          </a:p>
        </p:txBody>
      </p:sp>
      <p:sp>
        <p:nvSpPr>
          <p:cNvPr id="13" name="Shape 11"/>
          <p:cNvSpPr/>
          <p:nvPr/>
        </p:nvSpPr>
        <p:spPr>
          <a:xfrm>
            <a:off x="804672" y="3383280"/>
            <a:ext cx="3218688" cy="1325880"/>
          </a:xfrm>
          <a:prstGeom prst="roundRect">
            <a:avLst>
              <a:gd name="adj" fmla="val 5517"/>
            </a:avLst>
          </a:prstGeom>
          <a:solidFill>
            <a:srgbClr val="FFFFFF"/>
          </a:solidFill>
          <a:ln w="15240">
            <a:solidFill>
              <a:srgbClr val="CBD5E1"/>
            </a:solidFill>
            <a:prstDash val="solid"/>
          </a:ln>
          <a:effectLst>
            <a:outerShdw blurRad="10160" dist="7620" dir="2700000" algn="bl" rotWithShape="0">
              <a:srgbClr val="000000">
                <a:alpha val="10000"/>
              </a:srgbClr>
            </a:outerShdw>
          </a:effectLst>
        </p:spPr>
        <p:txBody>
          <a:bodyPr/>
          <a:lstStyle/>
          <a:p>
            <a:endParaRPr lang="en-US"/>
          </a:p>
        </p:txBody>
      </p:sp>
      <p:sp>
        <p:nvSpPr>
          <p:cNvPr id="14" name="Text 12"/>
          <p:cNvSpPr/>
          <p:nvPr/>
        </p:nvSpPr>
        <p:spPr>
          <a:xfrm>
            <a:off x="950976" y="3529584"/>
            <a:ext cx="2834640" cy="256032"/>
          </a:xfrm>
          <a:prstGeom prst="rect">
            <a:avLst/>
          </a:prstGeom>
          <a:noFill/>
          <a:ln/>
        </p:spPr>
        <p:txBody>
          <a:bodyPr wrap="square" rtlCol="0" anchor="ctr"/>
          <a:lstStyle/>
          <a:p>
            <a:pPr marL="0" indent="0" algn="ctr">
              <a:buNone/>
            </a:pPr>
            <a:r>
              <a:rPr lang="en-US" sz="1500" b="1" dirty="0">
                <a:solidFill>
                  <a:srgbClr val="475569"/>
                </a:solidFill>
              </a:rPr>
              <a:t>Top cancellation reason</a:t>
            </a:r>
            <a:endParaRPr lang="en-US" sz="1500" dirty="0"/>
          </a:p>
        </p:txBody>
      </p:sp>
      <p:sp>
        <p:nvSpPr>
          <p:cNvPr id="15" name="Text 13"/>
          <p:cNvSpPr/>
          <p:nvPr/>
        </p:nvSpPr>
        <p:spPr>
          <a:xfrm>
            <a:off x="941832" y="3913632"/>
            <a:ext cx="2852928" cy="502920"/>
          </a:xfrm>
          <a:prstGeom prst="rect">
            <a:avLst/>
          </a:prstGeom>
          <a:noFill/>
          <a:ln/>
        </p:spPr>
        <p:txBody>
          <a:bodyPr wrap="square" rtlCol="0" anchor="ctr"/>
          <a:lstStyle/>
          <a:p>
            <a:pPr marL="0" indent="0" algn="ctr">
              <a:buNone/>
            </a:pPr>
            <a:r>
              <a:rPr lang="en-US" sz="2200" b="1" dirty="0">
                <a:solidFill>
                  <a:srgbClr val="0F172A"/>
                </a:solidFill>
              </a:rPr>
              <a:t>Airspace closure –</a:t>
            </a:r>
            <a:endParaRPr lang="en-US" sz="2200" dirty="0"/>
          </a:p>
          <a:p>
            <a:pPr marL="0" indent="0" algn="ctr">
              <a:buNone/>
            </a:pPr>
            <a:r>
              <a:rPr lang="en-US" sz="2200" b="1" dirty="0">
                <a:solidFill>
                  <a:srgbClr val="0F172A"/>
                </a:solidFill>
              </a:rPr>
              <a:t>Iranian FIR (4)</a:t>
            </a:r>
            <a:endParaRPr lang="en-US" sz="2200" dirty="0"/>
          </a:p>
        </p:txBody>
      </p:sp>
      <p:sp>
        <p:nvSpPr>
          <p:cNvPr id="16" name="Shape 14"/>
          <p:cNvSpPr/>
          <p:nvPr/>
        </p:nvSpPr>
        <p:spPr>
          <a:xfrm>
            <a:off x="4507992" y="3383280"/>
            <a:ext cx="3218688" cy="1325880"/>
          </a:xfrm>
          <a:prstGeom prst="roundRect">
            <a:avLst>
              <a:gd name="adj" fmla="val 5517"/>
            </a:avLst>
          </a:prstGeom>
          <a:solidFill>
            <a:srgbClr val="FFFFFF"/>
          </a:solidFill>
          <a:ln w="15240">
            <a:solidFill>
              <a:srgbClr val="CBD5E1"/>
            </a:solidFill>
            <a:prstDash val="solid"/>
          </a:ln>
          <a:effectLst>
            <a:outerShdw blurRad="10160" dist="7620" dir="2700000" algn="bl" rotWithShape="0">
              <a:srgbClr val="000000">
                <a:alpha val="10000"/>
              </a:srgbClr>
            </a:outerShdw>
          </a:effectLst>
        </p:spPr>
        <p:txBody>
          <a:bodyPr/>
          <a:lstStyle/>
          <a:p>
            <a:endParaRPr lang="en-US"/>
          </a:p>
        </p:txBody>
      </p:sp>
      <p:sp>
        <p:nvSpPr>
          <p:cNvPr id="17" name="Text 15"/>
          <p:cNvSpPr/>
          <p:nvPr/>
        </p:nvSpPr>
        <p:spPr>
          <a:xfrm>
            <a:off x="4654296" y="3529584"/>
            <a:ext cx="2834640" cy="256032"/>
          </a:xfrm>
          <a:prstGeom prst="rect">
            <a:avLst/>
          </a:prstGeom>
          <a:noFill/>
          <a:ln/>
        </p:spPr>
        <p:txBody>
          <a:bodyPr wrap="square" rtlCol="0" anchor="ctr"/>
          <a:lstStyle/>
          <a:p>
            <a:pPr marL="0" indent="0" algn="ctr">
              <a:buNone/>
            </a:pPr>
            <a:r>
              <a:rPr lang="en-US" sz="1500" b="1" dirty="0">
                <a:solidFill>
                  <a:srgbClr val="475569"/>
                </a:solidFill>
              </a:rPr>
              <a:t>Average reroute delay</a:t>
            </a:r>
            <a:endParaRPr lang="en-US" sz="1500" dirty="0"/>
          </a:p>
        </p:txBody>
      </p:sp>
      <p:sp>
        <p:nvSpPr>
          <p:cNvPr id="18" name="Text 16"/>
          <p:cNvSpPr/>
          <p:nvPr/>
        </p:nvSpPr>
        <p:spPr>
          <a:xfrm>
            <a:off x="4645152" y="3913632"/>
            <a:ext cx="2852928" cy="502920"/>
          </a:xfrm>
          <a:prstGeom prst="rect">
            <a:avLst/>
          </a:prstGeom>
          <a:noFill/>
          <a:ln/>
        </p:spPr>
        <p:txBody>
          <a:bodyPr wrap="square" rtlCol="0" anchor="ctr"/>
          <a:lstStyle/>
          <a:p>
            <a:pPr marL="0" indent="0" algn="ctr">
              <a:buNone/>
            </a:pPr>
            <a:r>
              <a:rPr lang="en-US" sz="2200" b="1" dirty="0">
                <a:solidFill>
                  <a:srgbClr val="0F172A"/>
                </a:solidFill>
              </a:rPr>
              <a:t>65.47 minutes</a:t>
            </a:r>
            <a:endParaRPr lang="en-US" sz="2200" dirty="0"/>
          </a:p>
        </p:txBody>
      </p:sp>
      <p:sp>
        <p:nvSpPr>
          <p:cNvPr id="19" name="Shape 17"/>
          <p:cNvSpPr/>
          <p:nvPr/>
        </p:nvSpPr>
        <p:spPr>
          <a:xfrm>
            <a:off x="8211312" y="3383280"/>
            <a:ext cx="3218688" cy="1325880"/>
          </a:xfrm>
          <a:prstGeom prst="roundRect">
            <a:avLst>
              <a:gd name="adj" fmla="val 5517"/>
            </a:avLst>
          </a:prstGeom>
          <a:solidFill>
            <a:srgbClr val="FFFFFF"/>
          </a:solidFill>
          <a:ln w="15240">
            <a:solidFill>
              <a:srgbClr val="16A34A"/>
            </a:solidFill>
            <a:prstDash val="solid"/>
          </a:ln>
          <a:effectLst>
            <a:outerShdw blurRad="10160" dist="7620" dir="2700000" algn="bl" rotWithShape="0">
              <a:srgbClr val="000000">
                <a:alpha val="10000"/>
              </a:srgbClr>
            </a:outerShdw>
          </a:effectLst>
        </p:spPr>
        <p:txBody>
          <a:bodyPr/>
          <a:lstStyle/>
          <a:p>
            <a:endParaRPr lang="en-US"/>
          </a:p>
        </p:txBody>
      </p:sp>
      <p:sp>
        <p:nvSpPr>
          <p:cNvPr id="20" name="Text 18"/>
          <p:cNvSpPr/>
          <p:nvPr/>
        </p:nvSpPr>
        <p:spPr>
          <a:xfrm>
            <a:off x="8357616" y="3529584"/>
            <a:ext cx="2834640" cy="256032"/>
          </a:xfrm>
          <a:prstGeom prst="rect">
            <a:avLst/>
          </a:prstGeom>
          <a:noFill/>
          <a:ln/>
        </p:spPr>
        <p:txBody>
          <a:bodyPr wrap="square" rtlCol="0" anchor="ctr"/>
          <a:lstStyle/>
          <a:p>
            <a:pPr marL="0" indent="0" algn="ctr">
              <a:buNone/>
            </a:pPr>
            <a:r>
              <a:rPr lang="en-US" sz="1500" b="1" dirty="0">
                <a:solidFill>
                  <a:srgbClr val="475569"/>
                </a:solidFill>
              </a:rPr>
              <a:t>Estimated daily loss</a:t>
            </a:r>
            <a:endParaRPr lang="en-US" sz="1500" dirty="0"/>
          </a:p>
        </p:txBody>
      </p:sp>
      <p:sp>
        <p:nvSpPr>
          <p:cNvPr id="21" name="Text 19"/>
          <p:cNvSpPr/>
          <p:nvPr/>
        </p:nvSpPr>
        <p:spPr>
          <a:xfrm>
            <a:off x="8348472" y="3913632"/>
            <a:ext cx="2852928" cy="502920"/>
          </a:xfrm>
          <a:prstGeom prst="rect">
            <a:avLst/>
          </a:prstGeom>
          <a:noFill/>
          <a:ln/>
        </p:spPr>
        <p:txBody>
          <a:bodyPr wrap="square" rtlCol="0" anchor="ctr"/>
          <a:lstStyle/>
          <a:p>
            <a:pPr marL="0" indent="0" algn="ctr">
              <a:buNone/>
            </a:pPr>
            <a:r>
              <a:rPr lang="en-US" sz="2200" b="1" dirty="0">
                <a:solidFill>
                  <a:srgbClr val="0F172A"/>
                </a:solidFill>
              </a:rPr>
              <a:t>$48.84M</a:t>
            </a:r>
            <a:endParaRPr lang="en-US" sz="2200" dirty="0"/>
          </a:p>
        </p:txBody>
      </p:sp>
      <p:sp>
        <p:nvSpPr>
          <p:cNvPr id="22" name="Shape 20"/>
          <p:cNvSpPr/>
          <p:nvPr/>
        </p:nvSpPr>
        <p:spPr>
          <a:xfrm>
            <a:off x="836676" y="5233737"/>
            <a:ext cx="10561320" cy="932688"/>
          </a:xfrm>
          <a:prstGeom prst="roundRect">
            <a:avLst>
              <a:gd name="adj" fmla="val 9412"/>
            </a:avLst>
          </a:prstGeom>
          <a:solidFill>
            <a:srgbClr val="FFFFFF"/>
          </a:solidFill>
          <a:ln w="12700">
            <a:solidFill>
              <a:srgbClr val="CBD5E1"/>
            </a:solidFill>
            <a:prstDash val="solid"/>
          </a:ln>
          <a:effectLst>
            <a:outerShdw blurRad="19050" dist="15240" dir="2700000" algn="bl" rotWithShape="0">
              <a:srgbClr val="000000">
                <a:alpha val="16000"/>
              </a:srgbClr>
            </a:outerShdw>
          </a:effectLst>
        </p:spPr>
        <p:txBody>
          <a:bodyPr/>
          <a:lstStyle/>
          <a:p>
            <a:endParaRPr lang="en-US"/>
          </a:p>
        </p:txBody>
      </p:sp>
      <p:sp>
        <p:nvSpPr>
          <p:cNvPr id="23" name="Text 21"/>
          <p:cNvSpPr/>
          <p:nvPr/>
        </p:nvSpPr>
        <p:spPr>
          <a:xfrm>
            <a:off x="990760" y="5382126"/>
            <a:ext cx="10058400" cy="698634"/>
          </a:xfrm>
          <a:prstGeom prst="rect">
            <a:avLst/>
          </a:prstGeom>
          <a:noFill/>
          <a:ln/>
        </p:spPr>
        <p:txBody>
          <a:bodyPr wrap="square" rtlCol="0" anchor="ctr"/>
          <a:lstStyle/>
          <a:p>
            <a:pPr marL="0" indent="0" algn="ctr">
              <a:buNone/>
            </a:pPr>
            <a:r>
              <a:rPr lang="en-US" sz="1600" dirty="0">
                <a:solidFill>
                  <a:srgbClr val="475569"/>
                </a:solidFill>
              </a:rPr>
              <a:t>Interpretation: Disruptions were concentrated around a small set of airlines and major hubs, with airspace closures and precautionary restrictions driving the largest share of cancellations.</a:t>
            </a:r>
            <a:endParaRPr lang="en-US" sz="1600" dirty="0"/>
          </a:p>
        </p:txBody>
      </p:sp>
      <p:sp>
        <p:nvSpPr>
          <p:cNvPr id="25" name="Slide Number Placeholder 0"/>
          <p:cNvSpPr>
            <a:spLocks noGrp="1"/>
          </p:cNvSpPr>
          <p:nvPr>
            <p:ph type="sldNum" sz="quarter" idx="4294967295"/>
          </p:nvPr>
        </p:nvSpPr>
        <p:spPr>
          <a:xfrm>
            <a:off x="11704320" y="6565392"/>
            <a:ext cx="274320" cy="164592"/>
          </a:xfrm>
          <a:prstGeom prst="rect">
            <a:avLst/>
          </a:prstGeom>
          <a:extLst>
            <a:ext uri="{C572A759-6A51-4108-AA02-DFA0A04FC94B}">
              <ma14:wrappingTextBoxFlag xmlns:ma14="http://schemas.microsoft.com/office/mac/drawingml/2011/main" xmlns="" val="0"/>
            </a:ext>
          </a:extLst>
        </p:spPr>
        <p:txBody>
          <a:bodyPr/>
          <a:lstStyle>
            <a:lvl1pPr>
              <a:defRPr sz="1000">
                <a:solidFill>
                  <a:srgbClr val="E2E8F0"/>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658368"/>
            <a:ext cx="6858000" cy="384048"/>
          </a:xfrm>
          <a:prstGeom prst="rect">
            <a:avLst/>
          </a:prstGeom>
          <a:noFill/>
          <a:ln/>
        </p:spPr>
        <p:txBody>
          <a:bodyPr wrap="square" rtlCol="0" anchor="ctr"/>
          <a:lstStyle/>
          <a:p>
            <a:pPr marL="0" indent="0">
              <a:buNone/>
            </a:pPr>
            <a:r>
              <a:rPr lang="en-US" sz="2600" b="1" dirty="0">
                <a:solidFill>
                  <a:srgbClr val="0F172A"/>
                </a:solidFill>
                <a:latin typeface="Aptos Display" pitchFamily="34" charset="0"/>
                <a:ea typeface="Aptos Display" pitchFamily="34" charset="-122"/>
                <a:cs typeface="Aptos Display" pitchFamily="34" charset="-120"/>
              </a:rPr>
              <a:t>Roadblocks and how they were resolved</a:t>
            </a:r>
            <a:endParaRPr lang="en-US" sz="2600" dirty="0"/>
          </a:p>
        </p:txBody>
      </p:sp>
      <p:sp>
        <p:nvSpPr>
          <p:cNvPr id="3" name="Text 1"/>
          <p:cNvSpPr/>
          <p:nvPr/>
        </p:nvSpPr>
        <p:spPr>
          <a:xfrm>
            <a:off x="530352" y="1060704"/>
            <a:ext cx="8046720" cy="256032"/>
          </a:xfrm>
          <a:prstGeom prst="rect">
            <a:avLst/>
          </a:prstGeom>
          <a:noFill/>
          <a:ln/>
        </p:spPr>
        <p:txBody>
          <a:bodyPr wrap="square" rtlCol="0" anchor="ctr"/>
          <a:lstStyle/>
          <a:p>
            <a:pPr marL="0" indent="0">
              <a:buNone/>
            </a:pPr>
            <a:r>
              <a:rPr lang="en-US" sz="1250" dirty="0">
                <a:solidFill>
                  <a:srgbClr val="475569"/>
                </a:solidFill>
              </a:rPr>
              <a:t>The biggest issues were environment alignment, data handling, and repo workflow</a:t>
            </a:r>
            <a:endParaRPr lang="en-US" sz="1250" dirty="0"/>
          </a:p>
        </p:txBody>
      </p:sp>
      <p:sp>
        <p:nvSpPr>
          <p:cNvPr id="4" name="Shape 2"/>
          <p:cNvSpPr/>
          <p:nvPr/>
        </p:nvSpPr>
        <p:spPr>
          <a:xfrm>
            <a:off x="640080" y="1554480"/>
            <a:ext cx="4572000" cy="4526280"/>
          </a:xfrm>
          <a:prstGeom prst="roundRect">
            <a:avLst>
              <a:gd name="adj" fmla="val 1616"/>
            </a:avLst>
          </a:prstGeom>
          <a:solidFill>
            <a:srgbClr val="FFFFFF"/>
          </a:solidFill>
          <a:ln w="12700">
            <a:solidFill>
              <a:srgbClr val="CBD5E1"/>
            </a:solidFill>
            <a:prstDash val="solid"/>
          </a:ln>
          <a:effectLst>
            <a:outerShdw blurRad="19050" dist="15240" dir="2700000" algn="bl" rotWithShape="0">
              <a:srgbClr val="000000">
                <a:alpha val="16000"/>
              </a:srgbClr>
            </a:outerShdw>
          </a:effectLst>
        </p:spPr>
        <p:txBody>
          <a:bodyPr/>
          <a:lstStyle/>
          <a:p>
            <a:endParaRPr lang="en-US"/>
          </a:p>
        </p:txBody>
      </p:sp>
      <p:sp>
        <p:nvSpPr>
          <p:cNvPr id="5" name="Text 3"/>
          <p:cNvSpPr/>
          <p:nvPr/>
        </p:nvSpPr>
        <p:spPr>
          <a:xfrm>
            <a:off x="896112" y="1792224"/>
            <a:ext cx="3749040" cy="219456"/>
          </a:xfrm>
          <a:prstGeom prst="rect">
            <a:avLst/>
          </a:prstGeom>
          <a:noFill/>
          <a:ln/>
        </p:spPr>
        <p:txBody>
          <a:bodyPr wrap="square" rtlCol="0" anchor="ctr"/>
          <a:lstStyle/>
          <a:p>
            <a:pPr marL="0" indent="0">
              <a:buNone/>
            </a:pPr>
            <a:r>
              <a:rPr lang="en-US" sz="1900" b="1" dirty="0">
                <a:solidFill>
                  <a:srgbClr val="DC2626"/>
                </a:solidFill>
              </a:rPr>
              <a:t>1) Registration failed (null DB connection)</a:t>
            </a:r>
            <a:endParaRPr lang="en-US" sz="1900" dirty="0"/>
          </a:p>
        </p:txBody>
      </p:sp>
      <p:pic>
        <p:nvPicPr>
          <p:cNvPr id="6" name="Image 0" descr="/mnt/data/Screenshot 2026-03-30 001454.png"/>
          <p:cNvPicPr>
            <a:picLocks noChangeAspect="1"/>
          </p:cNvPicPr>
          <p:nvPr/>
        </p:nvPicPr>
        <p:blipFill>
          <a:blip r:embed="rId3"/>
          <a:stretch>
            <a:fillRect/>
          </a:stretch>
        </p:blipFill>
        <p:spPr>
          <a:xfrm>
            <a:off x="914400" y="2261501"/>
            <a:ext cx="4023360" cy="1886942"/>
          </a:xfrm>
          <a:prstGeom prst="rect">
            <a:avLst/>
          </a:prstGeom>
        </p:spPr>
      </p:pic>
      <p:sp>
        <p:nvSpPr>
          <p:cNvPr id="7" name="Text 4"/>
          <p:cNvSpPr/>
          <p:nvPr/>
        </p:nvSpPr>
        <p:spPr>
          <a:xfrm>
            <a:off x="914400" y="4480560"/>
            <a:ext cx="3977640" cy="713232"/>
          </a:xfrm>
          <a:prstGeom prst="rect">
            <a:avLst/>
          </a:prstGeom>
          <a:noFill/>
          <a:ln/>
        </p:spPr>
        <p:txBody>
          <a:bodyPr wrap="square" rtlCol="0" anchor="ctr"/>
          <a:lstStyle/>
          <a:p>
            <a:pPr marL="0" indent="0">
              <a:buNone/>
            </a:pPr>
            <a:r>
              <a:rPr lang="en-US" sz="1450" dirty="0">
                <a:solidFill>
                  <a:srgbClr val="475569"/>
                </a:solidFill>
              </a:rPr>
              <a:t>Fix: corrected JDBC connector setup, aligned the password in Conn.java, and added null-checks before prepared statements.</a:t>
            </a:r>
            <a:endParaRPr lang="en-US" sz="1450" dirty="0"/>
          </a:p>
        </p:txBody>
      </p:sp>
      <p:sp>
        <p:nvSpPr>
          <p:cNvPr id="8" name="Shape 5"/>
          <p:cNvSpPr/>
          <p:nvPr/>
        </p:nvSpPr>
        <p:spPr>
          <a:xfrm>
            <a:off x="5440680" y="1554480"/>
            <a:ext cx="6080760" cy="4526280"/>
          </a:xfrm>
          <a:prstGeom prst="roundRect">
            <a:avLst>
              <a:gd name="adj" fmla="val 1616"/>
            </a:avLst>
          </a:prstGeom>
          <a:solidFill>
            <a:srgbClr val="FFFFFF"/>
          </a:solidFill>
          <a:ln w="12700">
            <a:solidFill>
              <a:srgbClr val="CBD5E1"/>
            </a:solidFill>
            <a:prstDash val="solid"/>
          </a:ln>
          <a:effectLst>
            <a:outerShdw blurRad="19050" dist="15240" dir="2700000" algn="bl" rotWithShape="0">
              <a:srgbClr val="000000">
                <a:alpha val="16000"/>
              </a:srgbClr>
            </a:outerShdw>
          </a:effectLst>
        </p:spPr>
        <p:txBody>
          <a:bodyPr/>
          <a:lstStyle/>
          <a:p>
            <a:endParaRPr lang="en-US"/>
          </a:p>
        </p:txBody>
      </p:sp>
      <p:sp>
        <p:nvSpPr>
          <p:cNvPr id="9" name="Text 6"/>
          <p:cNvSpPr/>
          <p:nvPr/>
        </p:nvSpPr>
        <p:spPr>
          <a:xfrm>
            <a:off x="5705856" y="1691640"/>
            <a:ext cx="2980944" cy="320040"/>
          </a:xfrm>
          <a:prstGeom prst="rect">
            <a:avLst/>
          </a:prstGeom>
          <a:noFill/>
          <a:ln/>
        </p:spPr>
        <p:txBody>
          <a:bodyPr wrap="square" rtlCol="0" anchor="ctr"/>
          <a:lstStyle/>
          <a:p>
            <a:pPr marL="0" indent="0">
              <a:buNone/>
            </a:pPr>
            <a:r>
              <a:rPr lang="en-US" sz="1900" b="1" dirty="0">
                <a:solidFill>
                  <a:srgbClr val="0F172A"/>
                </a:solidFill>
              </a:rPr>
              <a:t>Other blockers and fixes</a:t>
            </a:r>
            <a:endParaRPr lang="en-US" sz="1900" dirty="0"/>
          </a:p>
        </p:txBody>
      </p:sp>
      <p:sp>
        <p:nvSpPr>
          <p:cNvPr id="10" name="Text 7"/>
          <p:cNvSpPr/>
          <p:nvPr/>
        </p:nvSpPr>
        <p:spPr>
          <a:xfrm>
            <a:off x="5669280" y="2148840"/>
            <a:ext cx="5394960" cy="3474720"/>
          </a:xfrm>
          <a:prstGeom prst="rect">
            <a:avLst/>
          </a:prstGeom>
          <a:noFill/>
          <a:ln/>
        </p:spPr>
        <p:txBody>
          <a:bodyPr wrap="square" lIns="508" tIns="508" rIns="508" bIns="508" rtlCol="0" anchor="t"/>
          <a:lstStyle/>
          <a:p>
            <a:pPr marL="177800" indent="-177800">
              <a:buSzPct val="100000"/>
              <a:buChar char="•"/>
            </a:pPr>
            <a:r>
              <a:rPr lang="en-US" sz="1530" dirty="0">
                <a:solidFill>
                  <a:srgbClr val="475569"/>
                </a:solidFill>
              </a:rPr>
              <a:t>CSV upload produced EOFException when the server crashed before sending a reply. Fixed by validating files and returning readable upload errors.</a:t>
            </a:r>
          </a:p>
          <a:p>
            <a:pPr>
              <a:buSzPct val="100000"/>
            </a:pPr>
            <a:endParaRPr lang="en-US" sz="1530" dirty="0"/>
          </a:p>
          <a:p>
            <a:pPr marL="177800" indent="-177800">
              <a:buSzPct val="100000"/>
              <a:buChar char="•"/>
            </a:pPr>
            <a:r>
              <a:rPr lang="en-US" sz="1530" dirty="0">
                <a:solidFill>
                  <a:srgbClr val="475569"/>
                </a:solidFill>
              </a:rPr>
              <a:t>One CSV upload failed because the file was empty. Replaced the bad file and kept the server-side empty-file check.</a:t>
            </a:r>
          </a:p>
          <a:p>
            <a:pPr>
              <a:buSzPct val="100000"/>
            </a:pPr>
            <a:endParaRPr lang="en-US" sz="1530" dirty="0"/>
          </a:p>
          <a:p>
            <a:pPr marL="177800" indent="-177800">
              <a:buSzPct val="100000"/>
              <a:buChar char="•"/>
            </a:pPr>
            <a:r>
              <a:rPr lang="en-US" sz="1530" dirty="0">
                <a:solidFill>
                  <a:srgbClr val="475569"/>
                </a:solidFill>
              </a:rPr>
              <a:t>Python analysis failed because mysql.connector and the Ubuntu/Python version were incompatible. Switched to a pure-Python driver approach and stabilized the runtime.</a:t>
            </a:r>
          </a:p>
          <a:p>
            <a:pPr>
              <a:buSzPct val="100000"/>
            </a:pPr>
            <a:endParaRPr lang="en-US" sz="1530" dirty="0"/>
          </a:p>
          <a:p>
            <a:pPr marL="177800" indent="-177800">
              <a:buSzPct val="100000"/>
              <a:buChar char="•"/>
            </a:pPr>
            <a:r>
              <a:rPr lang="en-US" sz="1530" dirty="0">
                <a:solidFill>
                  <a:srgbClr val="475569"/>
                </a:solidFill>
              </a:rPr>
              <a:t>GitHub updates were confusing because pushes were happening from the wrong folder. Fixed by identifying the correct Git-connected folder and updating that repository path.</a:t>
            </a:r>
            <a:endParaRPr lang="en-US" sz="1530" dirty="0"/>
          </a:p>
        </p:txBody>
      </p:sp>
      <p:sp>
        <p:nvSpPr>
          <p:cNvPr id="25" name="Slide Number Placeholder 0"/>
          <p:cNvSpPr>
            <a:spLocks noGrp="1"/>
          </p:cNvSpPr>
          <p:nvPr>
            <p:ph type="sldNum" sz="quarter" idx="4294967295"/>
          </p:nvPr>
        </p:nvSpPr>
        <p:spPr>
          <a:xfrm>
            <a:off x="11704320" y="6565392"/>
            <a:ext cx="274320" cy="164592"/>
          </a:xfrm>
          <a:prstGeom prst="rect">
            <a:avLst/>
          </a:prstGeom>
          <a:extLst>
            <a:ext uri="{C572A759-6A51-4108-AA02-DFA0A04FC94B}">
              <ma14:wrappingTextBoxFlag xmlns:ma14="http://schemas.microsoft.com/office/mac/drawingml/2011/main" xmlns="" val="0"/>
            </a:ext>
          </a:extLst>
        </p:spPr>
        <p:txBody>
          <a:bodyPr/>
          <a:lstStyle>
            <a:lvl1pPr>
              <a:defRPr sz="1000">
                <a:solidFill>
                  <a:srgbClr val="E2E8F0"/>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658368"/>
            <a:ext cx="6858000" cy="384048"/>
          </a:xfrm>
          <a:prstGeom prst="rect">
            <a:avLst/>
          </a:prstGeom>
          <a:noFill/>
          <a:ln/>
        </p:spPr>
        <p:txBody>
          <a:bodyPr wrap="square" rtlCol="0" anchor="ctr"/>
          <a:lstStyle/>
          <a:p>
            <a:pPr marL="0" indent="0">
              <a:buNone/>
            </a:pPr>
            <a:r>
              <a:rPr lang="en-US" sz="2600" b="1" dirty="0">
                <a:solidFill>
                  <a:srgbClr val="0F172A"/>
                </a:solidFill>
                <a:latin typeface="Aptos Display" pitchFamily="34" charset="0"/>
                <a:ea typeface="Aptos Display" pitchFamily="34" charset="-122"/>
                <a:cs typeface="Aptos Display" pitchFamily="34" charset="-120"/>
              </a:rPr>
              <a:t>Deliverables and submission status</a:t>
            </a:r>
            <a:endParaRPr lang="en-US" sz="2600" dirty="0"/>
          </a:p>
        </p:txBody>
      </p:sp>
      <p:sp>
        <p:nvSpPr>
          <p:cNvPr id="3" name="Text 1"/>
          <p:cNvSpPr/>
          <p:nvPr/>
        </p:nvSpPr>
        <p:spPr>
          <a:xfrm>
            <a:off x="530352" y="1060704"/>
            <a:ext cx="8046720" cy="256032"/>
          </a:xfrm>
          <a:prstGeom prst="rect">
            <a:avLst/>
          </a:prstGeom>
          <a:noFill/>
          <a:ln/>
        </p:spPr>
        <p:txBody>
          <a:bodyPr wrap="square" rtlCol="0" anchor="ctr"/>
          <a:lstStyle/>
          <a:p>
            <a:pPr marL="0" indent="0">
              <a:buNone/>
            </a:pPr>
            <a:r>
              <a:rPr lang="en-US" sz="1250" dirty="0">
                <a:solidFill>
                  <a:srgbClr val="475569"/>
                </a:solidFill>
              </a:rPr>
              <a:t>The final project artifacts are packaged for class submission and presentation</a:t>
            </a:r>
            <a:endParaRPr lang="en-US" sz="1250" dirty="0"/>
          </a:p>
        </p:txBody>
      </p:sp>
      <p:sp>
        <p:nvSpPr>
          <p:cNvPr id="4" name="Shape 2"/>
          <p:cNvSpPr/>
          <p:nvPr/>
        </p:nvSpPr>
        <p:spPr>
          <a:xfrm>
            <a:off x="658368" y="1508760"/>
            <a:ext cx="5486400" cy="4800600"/>
          </a:xfrm>
          <a:prstGeom prst="roundRect">
            <a:avLst>
              <a:gd name="adj" fmla="val 1524"/>
            </a:avLst>
          </a:prstGeom>
          <a:solidFill>
            <a:srgbClr val="FFFFFF"/>
          </a:solidFill>
          <a:ln w="12700">
            <a:solidFill>
              <a:srgbClr val="CBD5E1"/>
            </a:solidFill>
            <a:prstDash val="solid"/>
          </a:ln>
          <a:effectLst>
            <a:outerShdw blurRad="19050" dist="15240" dir="2700000" algn="bl" rotWithShape="0">
              <a:srgbClr val="000000">
                <a:alpha val="16000"/>
              </a:srgbClr>
            </a:outerShdw>
          </a:effectLst>
        </p:spPr>
        <p:txBody>
          <a:bodyPr/>
          <a:lstStyle/>
          <a:p>
            <a:endParaRPr lang="en-US"/>
          </a:p>
        </p:txBody>
      </p:sp>
      <p:sp>
        <p:nvSpPr>
          <p:cNvPr id="5" name="Text 3"/>
          <p:cNvSpPr/>
          <p:nvPr/>
        </p:nvSpPr>
        <p:spPr>
          <a:xfrm>
            <a:off x="914400" y="1650491"/>
            <a:ext cx="2470484" cy="274320"/>
          </a:xfrm>
          <a:prstGeom prst="rect">
            <a:avLst/>
          </a:prstGeom>
          <a:noFill/>
          <a:ln/>
        </p:spPr>
        <p:txBody>
          <a:bodyPr wrap="square" rtlCol="0" anchor="ctr"/>
          <a:lstStyle/>
          <a:p>
            <a:pPr marL="0" indent="0">
              <a:buNone/>
            </a:pPr>
            <a:r>
              <a:rPr lang="en-US" sz="2000" b="1" dirty="0">
                <a:solidFill>
                  <a:srgbClr val="0F172A"/>
                </a:solidFill>
              </a:rPr>
              <a:t>Final deliverables</a:t>
            </a:r>
            <a:endParaRPr lang="en-US" sz="2000" dirty="0"/>
          </a:p>
        </p:txBody>
      </p:sp>
      <p:sp>
        <p:nvSpPr>
          <p:cNvPr id="6" name="Text 4"/>
          <p:cNvSpPr/>
          <p:nvPr/>
        </p:nvSpPr>
        <p:spPr>
          <a:xfrm>
            <a:off x="802257" y="2020823"/>
            <a:ext cx="5210353" cy="2594089"/>
          </a:xfrm>
          <a:prstGeom prst="rect">
            <a:avLst/>
          </a:prstGeom>
          <a:noFill/>
          <a:ln/>
        </p:spPr>
        <p:txBody>
          <a:bodyPr wrap="square" lIns="508" tIns="508" rIns="508" bIns="508" rtlCol="0" anchor="t"/>
          <a:lstStyle/>
          <a:p>
            <a:pPr marL="177800" indent="-177800">
              <a:buSzPct val="100000"/>
              <a:buChar char="•"/>
            </a:pPr>
            <a:r>
              <a:rPr lang="en-US" sz="1530" dirty="0">
                <a:solidFill>
                  <a:srgbClr val="475569"/>
                </a:solidFill>
              </a:rPr>
              <a:t>Java source code: Login.java, Register.java, AviationClientApp.java, AviationServerApp.java, Conn.java</a:t>
            </a:r>
          </a:p>
          <a:p>
            <a:pPr>
              <a:buSzPct val="100000"/>
            </a:pPr>
            <a:endParaRPr lang="en-US" sz="1530" dirty="0"/>
          </a:p>
          <a:p>
            <a:pPr marL="177800" indent="-177800">
              <a:buSzPct val="100000"/>
              <a:buChar char="•"/>
            </a:pPr>
            <a:r>
              <a:rPr lang="en-US" sz="1530" dirty="0">
                <a:solidFill>
                  <a:srgbClr val="475569"/>
                </a:solidFill>
              </a:rPr>
              <a:t>Python analytics script: aviation_analysis.py</a:t>
            </a:r>
          </a:p>
          <a:p>
            <a:pPr>
              <a:buSzPct val="100000"/>
            </a:pPr>
            <a:endParaRPr lang="en-US" sz="1530" dirty="0"/>
          </a:p>
          <a:p>
            <a:pPr marL="177800" indent="-177800">
              <a:buSzPct val="100000"/>
              <a:buChar char="•"/>
            </a:pPr>
            <a:r>
              <a:rPr lang="en-US" sz="1530" dirty="0">
                <a:solidFill>
                  <a:srgbClr val="475569"/>
                </a:solidFill>
              </a:rPr>
              <a:t>SQL schema: my_aviationDB.sql</a:t>
            </a:r>
          </a:p>
          <a:p>
            <a:pPr>
              <a:buSzPct val="100000"/>
            </a:pPr>
            <a:endParaRPr lang="en-US" sz="1530" dirty="0"/>
          </a:p>
          <a:p>
            <a:pPr marL="177800" indent="-177800">
              <a:buSzPct val="100000"/>
              <a:buChar char="•"/>
            </a:pPr>
            <a:r>
              <a:rPr lang="en-US" sz="1530" dirty="0">
                <a:solidFill>
                  <a:srgbClr val="475569"/>
                </a:solidFill>
              </a:rPr>
              <a:t>Generated report: aviation_report.pdf</a:t>
            </a:r>
          </a:p>
          <a:p>
            <a:pPr>
              <a:buSzPct val="100000"/>
            </a:pPr>
            <a:endParaRPr lang="en-US" sz="1530" dirty="0"/>
          </a:p>
          <a:p>
            <a:pPr marL="177800" indent="-177800">
              <a:buSzPct val="100000"/>
              <a:buChar char="•"/>
            </a:pPr>
            <a:r>
              <a:rPr lang="en-US" sz="1530" dirty="0">
                <a:solidFill>
                  <a:srgbClr val="475569"/>
                </a:solidFill>
              </a:rPr>
              <a:t>Supporting assets: Dataset, images, project-images, docs, README</a:t>
            </a:r>
            <a:endParaRPr lang="en-US" sz="1530" dirty="0"/>
          </a:p>
        </p:txBody>
      </p:sp>
      <p:sp>
        <p:nvSpPr>
          <p:cNvPr id="7" name="Text 5"/>
          <p:cNvSpPr/>
          <p:nvPr/>
        </p:nvSpPr>
        <p:spPr>
          <a:xfrm>
            <a:off x="914400" y="4614913"/>
            <a:ext cx="2919663" cy="363995"/>
          </a:xfrm>
          <a:prstGeom prst="rect">
            <a:avLst/>
          </a:prstGeom>
          <a:noFill/>
          <a:ln/>
        </p:spPr>
        <p:txBody>
          <a:bodyPr wrap="square" rtlCol="0" anchor="ctr"/>
          <a:lstStyle/>
          <a:p>
            <a:pPr marL="0" indent="0">
              <a:buNone/>
            </a:pPr>
            <a:r>
              <a:rPr lang="en-US" sz="1700" b="1" dirty="0">
                <a:solidFill>
                  <a:srgbClr val="2563EB"/>
                </a:solidFill>
              </a:rPr>
              <a:t>Repository update lesson:</a:t>
            </a:r>
            <a:endParaRPr lang="en-US" sz="1700" dirty="0"/>
          </a:p>
        </p:txBody>
      </p:sp>
      <p:sp>
        <p:nvSpPr>
          <p:cNvPr id="8" name="Text 6"/>
          <p:cNvSpPr/>
          <p:nvPr/>
        </p:nvSpPr>
        <p:spPr>
          <a:xfrm>
            <a:off x="914400" y="5074920"/>
            <a:ext cx="4663440" cy="548640"/>
          </a:xfrm>
          <a:prstGeom prst="rect">
            <a:avLst/>
          </a:prstGeom>
          <a:noFill/>
          <a:ln/>
        </p:spPr>
        <p:txBody>
          <a:bodyPr wrap="square" rtlCol="0" anchor="ctr"/>
          <a:lstStyle/>
          <a:p>
            <a:pPr marL="0" indent="0">
              <a:buNone/>
            </a:pPr>
            <a:r>
              <a:rPr lang="en-US" sz="1420" dirty="0">
                <a:solidFill>
                  <a:srgbClr val="475569"/>
                </a:solidFill>
              </a:rPr>
              <a:t>The correct approach was to update the Git-connected submission folder first, then commit and push that folder to GitHub.</a:t>
            </a:r>
            <a:endParaRPr lang="en-US" sz="1420" dirty="0"/>
          </a:p>
        </p:txBody>
      </p:sp>
      <p:sp>
        <p:nvSpPr>
          <p:cNvPr id="9" name="Shape 7"/>
          <p:cNvSpPr/>
          <p:nvPr/>
        </p:nvSpPr>
        <p:spPr>
          <a:xfrm>
            <a:off x="6355080" y="1508760"/>
            <a:ext cx="5166360" cy="4800600"/>
          </a:xfrm>
          <a:prstGeom prst="roundRect">
            <a:avLst>
              <a:gd name="adj" fmla="val 1524"/>
            </a:avLst>
          </a:prstGeom>
          <a:solidFill>
            <a:srgbClr val="FFFFFF"/>
          </a:solidFill>
          <a:ln w="12700">
            <a:solidFill>
              <a:srgbClr val="CBD5E1"/>
            </a:solidFill>
            <a:prstDash val="solid"/>
          </a:ln>
          <a:effectLst>
            <a:outerShdw blurRad="19050" dist="15240" dir="2700000" algn="bl" rotWithShape="0">
              <a:srgbClr val="000000">
                <a:alpha val="16000"/>
              </a:srgbClr>
            </a:outerShdw>
          </a:effectLst>
        </p:spPr>
        <p:txBody>
          <a:bodyPr/>
          <a:lstStyle/>
          <a:p>
            <a:endParaRPr lang="en-US"/>
          </a:p>
        </p:txBody>
      </p:sp>
      <p:sp>
        <p:nvSpPr>
          <p:cNvPr id="10" name="Text 8"/>
          <p:cNvSpPr/>
          <p:nvPr/>
        </p:nvSpPr>
        <p:spPr>
          <a:xfrm>
            <a:off x="6629400" y="1755648"/>
            <a:ext cx="4015596" cy="219456"/>
          </a:xfrm>
          <a:prstGeom prst="rect">
            <a:avLst/>
          </a:prstGeom>
          <a:noFill/>
          <a:ln/>
        </p:spPr>
        <p:txBody>
          <a:bodyPr wrap="square" rtlCol="0" anchor="ctr"/>
          <a:lstStyle/>
          <a:p>
            <a:pPr marL="0" indent="0">
              <a:buNone/>
            </a:pPr>
            <a:r>
              <a:rPr lang="en-US" sz="2000" b="1" dirty="0">
                <a:solidFill>
                  <a:srgbClr val="0F172A"/>
                </a:solidFill>
              </a:rPr>
              <a:t>Submission repository snapshot</a:t>
            </a:r>
            <a:endParaRPr lang="en-US" sz="2000" dirty="0"/>
          </a:p>
        </p:txBody>
      </p:sp>
      <p:sp>
        <p:nvSpPr>
          <p:cNvPr id="25" name="Slide Number Placeholder 0"/>
          <p:cNvSpPr>
            <a:spLocks noGrp="1"/>
          </p:cNvSpPr>
          <p:nvPr>
            <p:ph type="sldNum" sz="quarter" idx="4294967295"/>
          </p:nvPr>
        </p:nvSpPr>
        <p:spPr>
          <a:xfrm>
            <a:off x="11704320" y="6565392"/>
            <a:ext cx="274320" cy="164592"/>
          </a:xfrm>
          <a:prstGeom prst="rect">
            <a:avLst/>
          </a:prstGeom>
          <a:extLst>
            <a:ext uri="{C572A759-6A51-4108-AA02-DFA0A04FC94B}">
              <ma14:wrappingTextBoxFlag xmlns:ma14="http://schemas.microsoft.com/office/mac/drawingml/2011/main" xmlns="" val="0"/>
            </a:ext>
          </a:extLst>
        </p:spPr>
        <p:txBody>
          <a:bodyPr/>
          <a:lstStyle>
            <a:lvl1pPr>
              <a:defRPr sz="1000">
                <a:solidFill>
                  <a:srgbClr val="E2E8F0"/>
                </a:solidFill>
              </a:defRPr>
            </a:lvl1pPr>
          </a:lstStyle>
          <a:p>
            <a:pPr algn="l"/>
            <a:fld id="{F7021451-1387-4CA6-816F-3879F97B5CBC}" type="slidenum">
              <a:rPr lang="en-US" b="0"/>
              <a:t>7</a:t>
            </a:fld>
            <a:endParaRPr lang="en-US"/>
          </a:p>
        </p:txBody>
      </p:sp>
      <p:pic>
        <p:nvPicPr>
          <p:cNvPr id="13" name="Picture 12">
            <a:extLst>
              <a:ext uri="{FF2B5EF4-FFF2-40B4-BE49-F238E27FC236}">
                <a16:creationId xmlns:a16="http://schemas.microsoft.com/office/drawing/2014/main" id="{C9636D11-A969-0C2D-75A4-ABEE3F1CBC96}"/>
              </a:ext>
            </a:extLst>
          </p:cNvPr>
          <p:cNvPicPr>
            <a:picLocks noChangeAspect="1"/>
          </p:cNvPicPr>
          <p:nvPr/>
        </p:nvPicPr>
        <p:blipFill>
          <a:blip r:embed="rId3"/>
          <a:stretch>
            <a:fillRect/>
          </a:stretch>
        </p:blipFill>
        <p:spPr>
          <a:xfrm>
            <a:off x="6642076" y="2221992"/>
            <a:ext cx="4592368" cy="357530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658368"/>
            <a:ext cx="6858000" cy="384048"/>
          </a:xfrm>
          <a:prstGeom prst="rect">
            <a:avLst/>
          </a:prstGeom>
          <a:noFill/>
          <a:ln/>
        </p:spPr>
        <p:txBody>
          <a:bodyPr wrap="square" rtlCol="0" anchor="ctr"/>
          <a:lstStyle/>
          <a:p>
            <a:pPr marL="0" indent="0">
              <a:buNone/>
            </a:pPr>
            <a:r>
              <a:rPr lang="en-US" sz="2600" b="1" dirty="0">
                <a:solidFill>
                  <a:srgbClr val="0F172A"/>
                </a:solidFill>
                <a:latin typeface="Aptos Display" pitchFamily="34" charset="0"/>
                <a:ea typeface="Aptos Display" pitchFamily="34" charset="-122"/>
                <a:cs typeface="Aptos Display" pitchFamily="34" charset="-120"/>
              </a:rPr>
              <a:t>Conclusion and next improvements</a:t>
            </a:r>
            <a:endParaRPr lang="en-US" sz="2600" dirty="0"/>
          </a:p>
        </p:txBody>
      </p:sp>
      <p:sp>
        <p:nvSpPr>
          <p:cNvPr id="3" name="Text 1"/>
          <p:cNvSpPr/>
          <p:nvPr/>
        </p:nvSpPr>
        <p:spPr>
          <a:xfrm>
            <a:off x="530352" y="1060704"/>
            <a:ext cx="8046720" cy="256032"/>
          </a:xfrm>
          <a:prstGeom prst="rect">
            <a:avLst/>
          </a:prstGeom>
          <a:noFill/>
          <a:ln/>
        </p:spPr>
        <p:txBody>
          <a:bodyPr wrap="square" rtlCol="0" anchor="ctr"/>
          <a:lstStyle/>
          <a:p>
            <a:pPr marL="0" indent="0">
              <a:buNone/>
            </a:pPr>
            <a:r>
              <a:rPr lang="en-US" sz="1250" dirty="0">
                <a:solidFill>
                  <a:srgbClr val="475569"/>
                </a:solidFill>
              </a:rPr>
              <a:t>What this project demonstrates and how it could be extended</a:t>
            </a:r>
            <a:endParaRPr lang="en-US" sz="1250" dirty="0"/>
          </a:p>
        </p:txBody>
      </p:sp>
      <p:sp>
        <p:nvSpPr>
          <p:cNvPr id="4" name="Shape 2"/>
          <p:cNvSpPr/>
          <p:nvPr/>
        </p:nvSpPr>
        <p:spPr>
          <a:xfrm>
            <a:off x="749808" y="1554480"/>
            <a:ext cx="5349240" cy="3886200"/>
          </a:xfrm>
          <a:prstGeom prst="roundRect">
            <a:avLst>
              <a:gd name="adj" fmla="val 1882"/>
            </a:avLst>
          </a:prstGeom>
          <a:solidFill>
            <a:srgbClr val="FFFFFF"/>
          </a:solidFill>
          <a:ln w="12700">
            <a:solidFill>
              <a:srgbClr val="CBD5E1"/>
            </a:solidFill>
            <a:prstDash val="solid"/>
          </a:ln>
          <a:effectLst>
            <a:outerShdw blurRad="19050" dist="15240" dir="2700000" algn="bl" rotWithShape="0">
              <a:srgbClr val="000000">
                <a:alpha val="16000"/>
              </a:srgbClr>
            </a:outerShdw>
          </a:effectLst>
        </p:spPr>
        <p:txBody>
          <a:bodyPr/>
          <a:lstStyle/>
          <a:p>
            <a:endParaRPr lang="en-US"/>
          </a:p>
        </p:txBody>
      </p:sp>
      <p:sp>
        <p:nvSpPr>
          <p:cNvPr id="5" name="Text 3"/>
          <p:cNvSpPr/>
          <p:nvPr/>
        </p:nvSpPr>
        <p:spPr>
          <a:xfrm>
            <a:off x="1005840" y="1810512"/>
            <a:ext cx="3902590" cy="219456"/>
          </a:xfrm>
          <a:prstGeom prst="rect">
            <a:avLst/>
          </a:prstGeom>
          <a:noFill/>
          <a:ln/>
        </p:spPr>
        <p:txBody>
          <a:bodyPr wrap="square" rtlCol="0" anchor="ctr"/>
          <a:lstStyle/>
          <a:p>
            <a:pPr marL="0" indent="0">
              <a:buNone/>
            </a:pPr>
            <a:r>
              <a:rPr lang="en-US" sz="2000" b="1" dirty="0">
                <a:solidFill>
                  <a:srgbClr val="0F172A"/>
                </a:solidFill>
              </a:rPr>
              <a:t>What the project demonstrates</a:t>
            </a:r>
            <a:endParaRPr lang="en-US" sz="2000" dirty="0"/>
          </a:p>
        </p:txBody>
      </p:sp>
      <p:sp>
        <p:nvSpPr>
          <p:cNvPr id="6" name="Text 4"/>
          <p:cNvSpPr/>
          <p:nvPr/>
        </p:nvSpPr>
        <p:spPr>
          <a:xfrm>
            <a:off x="1005840" y="2139695"/>
            <a:ext cx="4617720" cy="2492689"/>
          </a:xfrm>
          <a:prstGeom prst="rect">
            <a:avLst/>
          </a:prstGeom>
          <a:noFill/>
          <a:ln/>
        </p:spPr>
        <p:txBody>
          <a:bodyPr wrap="square" lIns="508" tIns="508" rIns="508" bIns="508" rtlCol="0" anchor="t"/>
          <a:lstStyle/>
          <a:p>
            <a:pPr marL="177800" indent="-177800">
              <a:buSzPct val="100000"/>
              <a:buChar char="•"/>
            </a:pPr>
            <a:r>
              <a:rPr lang="en-US" sz="1510" dirty="0">
                <a:solidFill>
                  <a:srgbClr val="475569"/>
                </a:solidFill>
              </a:rPr>
              <a:t>Integration of Java, MySQL, Python, and GitHub into one distributed workflow</a:t>
            </a:r>
          </a:p>
          <a:p>
            <a:pPr>
              <a:buSzPct val="100000"/>
            </a:pPr>
            <a:endParaRPr lang="en-US" sz="1510" dirty="0"/>
          </a:p>
          <a:p>
            <a:pPr marL="177800" indent="-177800">
              <a:buSzPct val="100000"/>
              <a:buChar char="•"/>
            </a:pPr>
            <a:r>
              <a:rPr lang="en-US" sz="1510" dirty="0">
                <a:solidFill>
                  <a:srgbClr val="475569"/>
                </a:solidFill>
              </a:rPr>
              <a:t>A practical client/server pattern for ingesting and analyzing tabular data</a:t>
            </a:r>
          </a:p>
          <a:p>
            <a:pPr>
              <a:buSzPct val="100000"/>
            </a:pPr>
            <a:endParaRPr lang="en-US" sz="1510" dirty="0"/>
          </a:p>
          <a:p>
            <a:pPr marL="177800" indent="-177800">
              <a:buSzPct val="100000"/>
              <a:buChar char="•"/>
            </a:pPr>
            <a:r>
              <a:rPr lang="en-US" sz="1510" dirty="0">
                <a:solidFill>
                  <a:srgbClr val="475569"/>
                </a:solidFill>
              </a:rPr>
              <a:t>A complete pipeline from raw CSVs to an executive-style PDF report</a:t>
            </a:r>
          </a:p>
          <a:p>
            <a:pPr>
              <a:buSzPct val="100000"/>
            </a:pPr>
            <a:endParaRPr lang="en-US" sz="1510" dirty="0"/>
          </a:p>
          <a:p>
            <a:pPr marL="177800" indent="-177800">
              <a:buSzPct val="100000"/>
              <a:buChar char="•"/>
            </a:pPr>
            <a:r>
              <a:rPr lang="en-US" sz="1510" dirty="0">
                <a:solidFill>
                  <a:srgbClr val="475569"/>
                </a:solidFill>
              </a:rPr>
              <a:t>Real debugging experience across UI, database, runtime, and deployment layers</a:t>
            </a:r>
            <a:endParaRPr lang="en-US" sz="1510" dirty="0"/>
          </a:p>
        </p:txBody>
      </p:sp>
      <p:sp>
        <p:nvSpPr>
          <p:cNvPr id="7" name="Shape 5"/>
          <p:cNvSpPr/>
          <p:nvPr/>
        </p:nvSpPr>
        <p:spPr>
          <a:xfrm>
            <a:off x="6327648" y="1554480"/>
            <a:ext cx="5074920" cy="3886200"/>
          </a:xfrm>
          <a:prstGeom prst="roundRect">
            <a:avLst>
              <a:gd name="adj" fmla="val 1882"/>
            </a:avLst>
          </a:prstGeom>
          <a:solidFill>
            <a:srgbClr val="FFFFFF"/>
          </a:solidFill>
          <a:ln w="12700">
            <a:solidFill>
              <a:srgbClr val="CBD5E1"/>
            </a:solidFill>
            <a:prstDash val="solid"/>
          </a:ln>
          <a:effectLst>
            <a:outerShdw blurRad="19050" dist="15240" dir="2700000" algn="bl" rotWithShape="0">
              <a:srgbClr val="000000">
                <a:alpha val="16000"/>
              </a:srgbClr>
            </a:outerShdw>
          </a:effectLst>
        </p:spPr>
        <p:txBody>
          <a:bodyPr/>
          <a:lstStyle/>
          <a:p>
            <a:endParaRPr lang="en-US"/>
          </a:p>
        </p:txBody>
      </p:sp>
      <p:sp>
        <p:nvSpPr>
          <p:cNvPr id="8" name="Text 6"/>
          <p:cNvSpPr/>
          <p:nvPr/>
        </p:nvSpPr>
        <p:spPr>
          <a:xfrm>
            <a:off x="6565391" y="1810512"/>
            <a:ext cx="2604487" cy="219456"/>
          </a:xfrm>
          <a:prstGeom prst="rect">
            <a:avLst/>
          </a:prstGeom>
          <a:noFill/>
          <a:ln/>
        </p:spPr>
        <p:txBody>
          <a:bodyPr wrap="square" rtlCol="0" anchor="ctr"/>
          <a:lstStyle/>
          <a:p>
            <a:pPr marL="0" indent="0">
              <a:buNone/>
            </a:pPr>
            <a:r>
              <a:rPr lang="en-US" sz="2000" b="1" dirty="0">
                <a:solidFill>
                  <a:srgbClr val="0F172A"/>
                </a:solidFill>
              </a:rPr>
              <a:t>Next improvements</a:t>
            </a:r>
            <a:endParaRPr lang="en-US" sz="2000" dirty="0"/>
          </a:p>
        </p:txBody>
      </p:sp>
      <p:sp>
        <p:nvSpPr>
          <p:cNvPr id="9" name="Text 7"/>
          <p:cNvSpPr/>
          <p:nvPr/>
        </p:nvSpPr>
        <p:spPr>
          <a:xfrm>
            <a:off x="6565392" y="2139696"/>
            <a:ext cx="4389120" cy="2492688"/>
          </a:xfrm>
          <a:prstGeom prst="rect">
            <a:avLst/>
          </a:prstGeom>
          <a:noFill/>
          <a:ln/>
        </p:spPr>
        <p:txBody>
          <a:bodyPr wrap="square" lIns="508" tIns="508" rIns="508" bIns="508" rtlCol="0" anchor="t"/>
          <a:lstStyle/>
          <a:p>
            <a:pPr marL="177800" indent="-177800">
              <a:buSzPct val="100000"/>
              <a:buChar char="•"/>
            </a:pPr>
            <a:r>
              <a:rPr lang="en-US" sz="1510" dirty="0">
                <a:solidFill>
                  <a:srgbClr val="475569"/>
                </a:solidFill>
              </a:rPr>
              <a:t>Package the app with clearer installation/setup instructions</a:t>
            </a:r>
          </a:p>
          <a:p>
            <a:pPr>
              <a:buSzPct val="100000"/>
            </a:pPr>
            <a:endParaRPr lang="en-US" sz="1510" dirty="0"/>
          </a:p>
          <a:p>
            <a:pPr marL="177800" indent="-177800">
              <a:buSzPct val="100000"/>
              <a:buChar char="•"/>
            </a:pPr>
            <a:r>
              <a:rPr lang="en-US" sz="1510" dirty="0">
                <a:solidFill>
                  <a:srgbClr val="475569"/>
                </a:solidFill>
              </a:rPr>
              <a:t>Add stronger logging and exception reporting across Java and Python</a:t>
            </a:r>
          </a:p>
          <a:p>
            <a:pPr marL="177800" indent="-177800">
              <a:buSzPct val="100000"/>
              <a:buChar char="•"/>
            </a:pPr>
            <a:endParaRPr lang="en-US" sz="1510" dirty="0"/>
          </a:p>
          <a:p>
            <a:pPr marL="177800" indent="-177800">
              <a:buSzPct val="100000"/>
              <a:buChar char="•"/>
            </a:pPr>
            <a:r>
              <a:rPr lang="en-US" sz="1510" dirty="0">
                <a:solidFill>
                  <a:srgbClr val="475569"/>
                </a:solidFill>
              </a:rPr>
              <a:t>Improve the UI polish and automate multi-file uploads</a:t>
            </a:r>
          </a:p>
          <a:p>
            <a:pPr>
              <a:buSzPct val="100000"/>
            </a:pPr>
            <a:endParaRPr lang="en-US" sz="1510" dirty="0"/>
          </a:p>
          <a:p>
            <a:pPr marL="177800" indent="-177800">
              <a:buSzPct val="100000"/>
              <a:buChar char="•"/>
            </a:pPr>
            <a:r>
              <a:rPr lang="en-US" sz="1510" dirty="0">
                <a:solidFill>
                  <a:srgbClr val="475569"/>
                </a:solidFill>
              </a:rPr>
              <a:t>Extend analytics with trend analysis and dashboard-style views</a:t>
            </a:r>
            <a:endParaRPr lang="en-US" sz="1510" dirty="0"/>
          </a:p>
        </p:txBody>
      </p:sp>
      <p:sp>
        <p:nvSpPr>
          <p:cNvPr id="10" name="Shape 8"/>
          <p:cNvSpPr/>
          <p:nvPr/>
        </p:nvSpPr>
        <p:spPr>
          <a:xfrm>
            <a:off x="960120" y="5550408"/>
            <a:ext cx="10195560" cy="539496"/>
          </a:xfrm>
          <a:prstGeom prst="roundRect">
            <a:avLst>
              <a:gd name="adj" fmla="val 10870"/>
            </a:avLst>
          </a:prstGeom>
          <a:solidFill>
            <a:srgbClr val="F59E0B"/>
          </a:solidFill>
          <a:ln w="12700">
            <a:solidFill>
              <a:srgbClr val="F59E0B"/>
            </a:solidFill>
            <a:prstDash val="solid"/>
          </a:ln>
        </p:spPr>
        <p:txBody>
          <a:bodyPr/>
          <a:lstStyle/>
          <a:p>
            <a:endParaRPr lang="en-US"/>
          </a:p>
        </p:txBody>
      </p:sp>
      <p:sp>
        <p:nvSpPr>
          <p:cNvPr id="11" name="Text 9"/>
          <p:cNvSpPr/>
          <p:nvPr/>
        </p:nvSpPr>
        <p:spPr>
          <a:xfrm>
            <a:off x="1188719" y="5550408"/>
            <a:ext cx="9853091" cy="512064"/>
          </a:xfrm>
          <a:prstGeom prst="rect">
            <a:avLst/>
          </a:prstGeom>
          <a:noFill/>
          <a:ln/>
        </p:spPr>
        <p:txBody>
          <a:bodyPr wrap="square" rtlCol="0" anchor="ctr"/>
          <a:lstStyle/>
          <a:p>
            <a:pPr marL="0" indent="0" algn="ctr">
              <a:buNone/>
            </a:pPr>
            <a:r>
              <a:rPr lang="en-US" sz="1550" b="1" dirty="0">
                <a:solidFill>
                  <a:srgbClr val="FFFFFF"/>
                </a:solidFill>
              </a:rPr>
              <a:t>Final Outcome: the system successfully uploads datasets, loads MySQL, runs analytics, generates a PDF, and returns the report to the client.</a:t>
            </a:r>
            <a:endParaRPr lang="en-US" sz="1550" dirty="0"/>
          </a:p>
        </p:txBody>
      </p:sp>
      <p:sp>
        <p:nvSpPr>
          <p:cNvPr id="25" name="Slide Number Placeholder 0"/>
          <p:cNvSpPr>
            <a:spLocks noGrp="1"/>
          </p:cNvSpPr>
          <p:nvPr>
            <p:ph type="sldNum" sz="quarter" idx="4294967295"/>
          </p:nvPr>
        </p:nvSpPr>
        <p:spPr>
          <a:xfrm>
            <a:off x="11704320" y="6565392"/>
            <a:ext cx="274320" cy="164592"/>
          </a:xfrm>
          <a:prstGeom prst="rect">
            <a:avLst/>
          </a:prstGeom>
          <a:extLst>
            <a:ext uri="{C572A759-6A51-4108-AA02-DFA0A04FC94B}">
              <ma14:wrappingTextBoxFlag xmlns:ma14="http://schemas.microsoft.com/office/mac/drawingml/2011/main" xmlns="" val="0"/>
            </a:ext>
          </a:extLst>
        </p:spPr>
        <p:txBody>
          <a:bodyPr/>
          <a:lstStyle>
            <a:lvl1pPr>
              <a:defRPr sz="1000">
                <a:solidFill>
                  <a:srgbClr val="E2E8F0"/>
                </a:solidFill>
              </a:defRPr>
            </a:lvl1pPr>
          </a:lstStyle>
          <a:p>
            <a:pPr algn="l"/>
            <a:fld id="{F7021451-1387-4CA6-816F-3879F97B5CBC}" type="slidenum">
              <a:rPr lang="en-US" b="0"/>
              <a:t>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2558</TotalTime>
  <Words>1287</Words>
  <Application>Microsoft Office PowerPoint</Application>
  <PresentationFormat>Widescreen</PresentationFormat>
  <Paragraphs>149</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Distributed Aviation Disruption Analytics System</dc:title>
  <dc:subject>MSDS535 final project presentation</dc:subject>
  <dc:creator>OpenAI</dc:creator>
  <cp:lastModifiedBy>OMOTOSHO_ CO</cp:lastModifiedBy>
  <cp:revision>17</cp:revision>
  <dcterms:created xsi:type="dcterms:W3CDTF">2026-04-09T01:58:36Z</dcterms:created>
  <dcterms:modified xsi:type="dcterms:W3CDTF">2026-04-10T20:42:59Z</dcterms:modified>
</cp:coreProperties>
</file>